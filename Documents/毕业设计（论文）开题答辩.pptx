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6"/>
  </p:notesMasterIdLst>
  <p:sldIdLst>
    <p:sldId id="273" r:id="rId2"/>
    <p:sldId id="284" r:id="rId3"/>
    <p:sldId id="274" r:id="rId4"/>
    <p:sldId id="285" r:id="rId5"/>
    <p:sldId id="294" r:id="rId6"/>
    <p:sldId id="287" r:id="rId7"/>
    <p:sldId id="282" r:id="rId8"/>
    <p:sldId id="288" r:id="rId9"/>
    <p:sldId id="296" r:id="rId10"/>
    <p:sldId id="292" r:id="rId11"/>
    <p:sldId id="283" r:id="rId12"/>
    <p:sldId id="289" r:id="rId13"/>
    <p:sldId id="275" r:id="rId14"/>
    <p:sldId id="279" r:id="rId15"/>
  </p:sldIdLst>
  <p:sldSz cx="12192000" cy="6858000"/>
  <p:notesSz cx="6858000" cy="9144000"/>
  <p:embeddedFontLst>
    <p:embeddedFont>
      <p:font typeface="等线" panose="02010600030101010101" pitchFamily="2" charset="-122"/>
      <p:regular r:id="rId17"/>
      <p:bold r:id="rId18"/>
    </p:embeddedFont>
    <p:embeddedFont>
      <p:font typeface="微软雅黑" panose="020B0503020204020204" pitchFamily="34" charset="-122"/>
      <p:regular r:id="rId19"/>
      <p:bold r:id="rId2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41" autoAdjust="0"/>
    <p:restoredTop sz="94523"/>
  </p:normalViewPr>
  <p:slideViewPr>
    <p:cSldViewPr snapToGrid="0">
      <p:cViewPr varScale="1">
        <p:scale>
          <a:sx n="65" d="100"/>
          <a:sy n="65" d="100"/>
        </p:scale>
        <p:origin x="240"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8C8C0B-E7A1-4E81-AB6F-6479A52F298B}" type="datetimeFigureOut">
              <a:rPr lang="zh-CN" altLang="en-US" smtClean="0"/>
              <a:t>2026/1/4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0A7FEF-E4FC-4DC9-B4DC-A4589F3A6D20}" type="slidenum">
              <a:rPr lang="zh-CN" altLang="en-US" smtClean="0"/>
              <a:t>‹#›</a:t>
            </a:fld>
            <a:endParaRPr lang="zh-CN" altLang="en-US"/>
          </a:p>
        </p:txBody>
      </p:sp>
    </p:spTree>
    <p:extLst>
      <p:ext uri="{BB962C8B-B14F-4D97-AF65-F5344CB8AC3E}">
        <p14:creationId xmlns:p14="http://schemas.microsoft.com/office/powerpoint/2010/main" val="769724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16" name="图片 15"/>
          <p:cNvPicPr>
            <a:picLocks noChangeAspect="1"/>
          </p:cNvPicPr>
          <p:nvPr userDrawn="1"/>
        </p:nvPicPr>
        <p:blipFill rotWithShape="1">
          <a:blip r:embed="rId2"/>
          <a:srcRect l="14939" t="-331" r="309" b="27609"/>
          <a:stretch>
            <a:fillRect/>
          </a:stretch>
        </p:blipFill>
        <p:spPr>
          <a:xfrm>
            <a:off x="0" y="4925961"/>
            <a:ext cx="2251587" cy="1932039"/>
          </a:xfrm>
          <a:prstGeom prst="rect">
            <a:avLst/>
          </a:prstGeom>
        </p:spPr>
      </p:pic>
      <p:sp>
        <p:nvSpPr>
          <p:cNvPr id="2" name="标题 1"/>
          <p:cNvSpPr>
            <a:spLocks noGrp="1"/>
          </p:cNvSpPr>
          <p:nvPr>
            <p:ph type="ctrTitle" hasCustomPrompt="1"/>
          </p:nvPr>
        </p:nvSpPr>
        <p:spPr>
          <a:xfrm>
            <a:off x="2387598" y="2130199"/>
            <a:ext cx="6105427" cy="1130146"/>
          </a:xfrm>
        </p:spPr>
        <p:txBody>
          <a:bodyPr anchor="b">
            <a:normAutofit/>
          </a:bodyPr>
          <a:lstStyle>
            <a:lvl1pPr algn="l">
              <a:defRPr sz="3600"/>
            </a:lvl1pPr>
          </a:lstStyle>
          <a:p>
            <a:r>
              <a:rPr lang="zh-CN" altLang="en-US" dirty="0"/>
              <a:t>单击此处</a:t>
            </a:r>
            <a:br>
              <a:rPr lang="en-US" altLang="zh-CN" dirty="0"/>
            </a:br>
            <a:r>
              <a:rPr lang="zh-CN" altLang="en-US" dirty="0"/>
              <a:t>编辑母版标题样式</a:t>
            </a:r>
          </a:p>
        </p:txBody>
      </p:sp>
      <p:sp>
        <p:nvSpPr>
          <p:cNvPr id="3" name="副标题 2"/>
          <p:cNvSpPr>
            <a:spLocks noGrp="1"/>
          </p:cNvSpPr>
          <p:nvPr>
            <p:ph type="subTitle" idx="1" hasCustomPrompt="1"/>
          </p:nvPr>
        </p:nvSpPr>
        <p:spPr>
          <a:xfrm>
            <a:off x="2387599" y="3978670"/>
            <a:ext cx="2768863" cy="281576"/>
          </a:xfrm>
        </p:spPr>
        <p:txBody>
          <a:bodyPr>
            <a:normAutofit/>
          </a:bodyPr>
          <a:lstStyle>
            <a:lvl1pPr marL="0" indent="0" algn="l">
              <a:buNone/>
              <a:defRPr sz="15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单击此处编辑姓名</a:t>
            </a:r>
            <a:endParaRPr lang="en-US" altLang="zh-CN" dirty="0"/>
          </a:p>
          <a:p>
            <a:endParaRPr lang="zh-CN" altLang="en-US" dirty="0"/>
          </a:p>
        </p:txBody>
      </p:sp>
      <p:sp>
        <p:nvSpPr>
          <p:cNvPr id="9" name="任意多边形 25"/>
          <p:cNvSpPr/>
          <p:nvPr userDrawn="1"/>
        </p:nvSpPr>
        <p:spPr>
          <a:xfrm rot="10800000">
            <a:off x="3270515" y="1130300"/>
            <a:ext cx="8249973" cy="4597081"/>
          </a:xfrm>
          <a:custGeom>
            <a:avLst/>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139756 h 4508626"/>
              <a:gd name="connsiteX3-7" fmla="*/ 6762786 w 6826313"/>
              <a:gd name="connsiteY3-8" fmla="*/ 2363957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01324 h 4508626"/>
              <a:gd name="connsiteX3-39" fmla="*/ 6762786 w 6826313"/>
              <a:gd name="connsiteY3-40" fmla="*/ 2363957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01324 h 4508626"/>
              <a:gd name="connsiteX3-75" fmla="*/ 6762786 w 6826313"/>
              <a:gd name="connsiteY3-76" fmla="*/ 2363957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544311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01324 h 4508626"/>
              <a:gd name="connsiteX3-111" fmla="*/ 6762786 w 6826313"/>
              <a:gd name="connsiteY3-112" fmla="*/ 2363957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544311 h 4508626"/>
              <a:gd name="connsiteX14-133" fmla="*/ 6821059 w 6826313"/>
              <a:gd name="connsiteY14-134" fmla="*/ 3600361 h 4508626"/>
              <a:gd name="connsiteX15-135" fmla="*/ 6826313 w 6826313"/>
              <a:gd name="connsiteY15-136" fmla="*/ 4508626 h 4508626"/>
              <a:gd name="connsiteX16-137" fmla="*/ 0 w 6826313"/>
              <a:gd name="connsiteY16-138" fmla="*/ 4508626 h 4508626"/>
              <a:gd name="connsiteX17-139" fmla="*/ 0 w 6826313"/>
              <a:gd name="connsiteY17-140" fmla="*/ 0 h 45086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65" y="connsiteY16-66"/>
              </a:cxn>
              <a:cxn ang="0">
                <a:pos x="connsiteX17-67" y="connsiteY17-68"/>
              </a:cxn>
            </a:cxnLst>
            <a:rect l="l" t="t" r="r" b="b"/>
            <a:pathLst>
              <a:path w="6826313" h="4508626">
                <a:moveTo>
                  <a:pt x="6762786" y="1876457"/>
                </a:moveTo>
                <a:lnTo>
                  <a:pt x="6826313" y="1876457"/>
                </a:lnTo>
                <a:lnTo>
                  <a:pt x="6826313" y="2401324"/>
                </a:lnTo>
                <a:cubicBezTo>
                  <a:pt x="6805137" y="2401324"/>
                  <a:pt x="6783962" y="2363957"/>
                  <a:pt x="6762786" y="2363957"/>
                </a:cubicBez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544311"/>
                </a:lnTo>
                <a:lnTo>
                  <a:pt x="6821059" y="3600361"/>
                </a:lnTo>
                <a:cubicBezTo>
                  <a:pt x="6822810" y="3903116"/>
                  <a:pt x="6824562" y="4205871"/>
                  <a:pt x="6826313" y="4508626"/>
                </a:cubicBezTo>
                <a:lnTo>
                  <a:pt x="0" y="4508626"/>
                </a:lnTo>
                <a:lnTo>
                  <a:pt x="0"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日期占位符 3"/>
          <p:cNvSpPr>
            <a:spLocks noGrp="1"/>
          </p:cNvSpPr>
          <p:nvPr>
            <p:ph type="dt" sz="half" idx="2"/>
          </p:nvPr>
        </p:nvSpPr>
        <p:spPr>
          <a:xfrm>
            <a:off x="658813" y="6263142"/>
            <a:ext cx="2743200" cy="365125"/>
          </a:xfrm>
          <a:prstGeom prst="rect">
            <a:avLst/>
          </a:prstGeom>
        </p:spPr>
        <p:txBody>
          <a:bodyPr vert="horz" lIns="91440" tIns="45720" rIns="91440" bIns="45720" rtlCol="0" anchor="ctr"/>
          <a:lstStyle>
            <a:lvl1pPr algn="l">
              <a:defRPr sz="1000" b="1">
                <a:solidFill>
                  <a:schemeClr val="tx1">
                    <a:tint val="75000"/>
                  </a:schemeClr>
                </a:solidFill>
              </a:defRPr>
            </a:lvl1pPr>
          </a:lstStyle>
          <a:p>
            <a:endParaRPr lang="zh-CN" altLang="en-US" dirty="0"/>
          </a:p>
        </p:txBody>
      </p:sp>
      <p:sp>
        <p:nvSpPr>
          <p:cNvPr id="15" name="文本占位符 14"/>
          <p:cNvSpPr>
            <a:spLocks noGrp="1"/>
          </p:cNvSpPr>
          <p:nvPr>
            <p:ph type="body" sz="quarter" idx="10" hasCustomPrompt="1"/>
          </p:nvPr>
        </p:nvSpPr>
        <p:spPr>
          <a:xfrm>
            <a:off x="2389559" y="4369292"/>
            <a:ext cx="2766903" cy="317669"/>
          </a:xfrm>
        </p:spPr>
        <p:txBody>
          <a:bodyPr/>
          <a:lstStyle>
            <a:lvl1pPr marL="0" indent="0">
              <a:buNone/>
              <a:defRPr sz="1500" b="0"/>
            </a:lvl1pPr>
          </a:lstStyle>
          <a:p>
            <a:pPr lvl="0"/>
            <a:r>
              <a:rPr lang="zh-CN" altLang="en-US" dirty="0"/>
              <a:t>单击此处编辑单位或日期</a:t>
            </a:r>
          </a:p>
        </p:txBody>
      </p:sp>
    </p:spTree>
    <p:extLst>
      <p:ext uri="{BB962C8B-B14F-4D97-AF65-F5344CB8AC3E}">
        <p14:creationId xmlns:p14="http://schemas.microsoft.com/office/powerpoint/2010/main" val="3637909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录板式">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r="43193"/>
          <a:stretch>
            <a:fillRect/>
          </a:stretch>
        </p:blipFill>
        <p:spPr>
          <a:xfrm>
            <a:off x="9237869" y="1052513"/>
            <a:ext cx="2954132" cy="5200339"/>
          </a:xfrm>
          <a:prstGeom prst="rect">
            <a:avLst/>
          </a:prstGeom>
        </p:spPr>
      </p:pic>
    </p:spTree>
    <p:extLst>
      <p:ext uri="{BB962C8B-B14F-4D97-AF65-F5344CB8AC3E}">
        <p14:creationId xmlns:p14="http://schemas.microsoft.com/office/powerpoint/2010/main" val="3166374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r="43193"/>
          <a:stretch>
            <a:fillRect/>
          </a:stretch>
        </p:blipFill>
        <p:spPr>
          <a:xfrm>
            <a:off x="9237869" y="1052513"/>
            <a:ext cx="2954132" cy="5200339"/>
          </a:xfrm>
          <a:prstGeom prst="rect">
            <a:avLst/>
          </a:prstGeom>
        </p:spPr>
      </p:pic>
      <p:sp>
        <p:nvSpPr>
          <p:cNvPr id="2" name="标题 1"/>
          <p:cNvSpPr>
            <a:spLocks noGrp="1"/>
          </p:cNvSpPr>
          <p:nvPr>
            <p:ph type="title"/>
          </p:nvPr>
        </p:nvSpPr>
        <p:spPr>
          <a:xfrm>
            <a:off x="6096000" y="2891770"/>
            <a:ext cx="4588562" cy="537230"/>
          </a:xfrm>
        </p:spPr>
        <p:txBody>
          <a:bodyPr anchor="b">
            <a:normAutofit/>
          </a:bodyPr>
          <a:lstStyle>
            <a:lvl1pPr>
              <a:defRPr sz="2800"/>
            </a:lvl1pPr>
          </a:lstStyle>
          <a:p>
            <a:r>
              <a:rPr lang="zh-CN" altLang="en-US" dirty="0"/>
              <a:t>单击此处编辑母版标题样式</a:t>
            </a:r>
          </a:p>
        </p:txBody>
      </p:sp>
      <p:sp>
        <p:nvSpPr>
          <p:cNvPr id="3" name="文本占位符 2"/>
          <p:cNvSpPr>
            <a:spLocks noGrp="1"/>
          </p:cNvSpPr>
          <p:nvPr>
            <p:ph type="body" idx="1"/>
          </p:nvPr>
        </p:nvSpPr>
        <p:spPr>
          <a:xfrm>
            <a:off x="6096000" y="3618502"/>
            <a:ext cx="4588562" cy="1019485"/>
          </a:xfrm>
        </p:spPr>
        <p:txBody>
          <a:bodyPr>
            <a:normAutofit/>
          </a:bodyPr>
          <a:lstStyle>
            <a:lvl1pPr marL="0" indent="0">
              <a:buNone/>
              <a:defRPr sz="1400" b="0">
                <a:solidFill>
                  <a:schemeClr val="tx1">
                    <a:tint val="75000"/>
                  </a:schemeClr>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1518109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r="43193"/>
          <a:stretch>
            <a:fillRect/>
          </a:stretch>
        </p:blipFill>
        <p:spPr>
          <a:xfrm>
            <a:off x="11028320" y="4809503"/>
            <a:ext cx="1163680" cy="2048497"/>
          </a:xfrm>
          <a:prstGeom prst="rect">
            <a:avLst/>
          </a:prstGeom>
        </p:spPr>
      </p:pic>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标题 9"/>
          <p:cNvSpPr>
            <a:spLocks noGrp="1"/>
          </p:cNvSpPr>
          <p:nvPr>
            <p:ph type="title"/>
          </p:nvPr>
        </p:nvSpPr>
        <p:spPr/>
        <p:txBody>
          <a:bodyPr/>
          <a:lstStyle/>
          <a:p>
            <a:r>
              <a:rPr lang="zh-CN" altLang="en-US"/>
              <a:t>单击此处编辑母版标题样式</a:t>
            </a:r>
          </a:p>
        </p:txBody>
      </p:sp>
      <p:sp>
        <p:nvSpPr>
          <p:cNvPr id="14" name="日期占位符 13"/>
          <p:cNvSpPr>
            <a:spLocks noGrp="1"/>
          </p:cNvSpPr>
          <p:nvPr>
            <p:ph type="dt" sz="half" idx="10"/>
          </p:nvPr>
        </p:nvSpPr>
        <p:spPr/>
        <p:txBody>
          <a:bodyPr/>
          <a:lstStyle/>
          <a:p>
            <a:endParaRPr lang="zh-CN" altLang="en-US" dirty="0"/>
          </a:p>
        </p:txBody>
      </p:sp>
      <p:sp>
        <p:nvSpPr>
          <p:cNvPr id="15" name="页脚占位符 14"/>
          <p:cNvSpPr>
            <a:spLocks noGrp="1"/>
          </p:cNvSpPr>
          <p:nvPr>
            <p:ph type="ftr" sz="quarter" idx="11"/>
          </p:nvPr>
        </p:nvSpPr>
        <p:spPr/>
        <p:txBody>
          <a:bodyPr/>
          <a:lstStyle/>
          <a:p>
            <a:endParaRPr lang="zh-CN" altLang="en-US"/>
          </a:p>
        </p:txBody>
      </p:sp>
      <p:sp>
        <p:nvSpPr>
          <p:cNvPr id="16" name="灯片编号占位符 15"/>
          <p:cNvSpPr>
            <a:spLocks noGrp="1"/>
          </p:cNvSpPr>
          <p:nvPr>
            <p:ph type="sldNum" sz="quarter" idx="12"/>
          </p:nvPr>
        </p:nvSpPr>
        <p:spPr/>
        <p:txBody>
          <a:bodyPr/>
          <a:lstStyle/>
          <a:p>
            <a:fld id="{17B61D2E-5690-4C9D-A84F-76BBD1AD9F3C}" type="slidenum">
              <a:rPr lang="zh-CN" altLang="en-US" smtClean="0"/>
              <a:t>‹#›</a:t>
            </a:fld>
            <a:endParaRPr lang="zh-CN" altLang="en-US"/>
          </a:p>
        </p:txBody>
      </p:sp>
    </p:spTree>
    <p:extLst>
      <p:ext uri="{BB962C8B-B14F-4D97-AF65-F5344CB8AC3E}">
        <p14:creationId xmlns:p14="http://schemas.microsoft.com/office/powerpoint/2010/main" val="41722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srcRect r="43193"/>
          <a:stretch>
            <a:fillRect/>
          </a:stretch>
        </p:blipFill>
        <p:spPr>
          <a:xfrm>
            <a:off x="11028320" y="4809503"/>
            <a:ext cx="1163680" cy="2048497"/>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5" name="灯片编号占位符 4"/>
          <p:cNvSpPr>
            <a:spLocks noGrp="1"/>
          </p:cNvSpPr>
          <p:nvPr>
            <p:ph type="sldNum" sz="quarter" idx="12"/>
          </p:nvPr>
        </p:nvSpPr>
        <p:spPr/>
        <p:txBody>
          <a:bodyPr/>
          <a:lstStyle/>
          <a:p>
            <a:fld id="{17B61D2E-5690-4C9D-A84F-76BBD1AD9F3C}" type="slidenum">
              <a:rPr lang="zh-CN" altLang="en-US" smtClean="0"/>
              <a:t>‹#›</a:t>
            </a:fld>
            <a:endParaRPr lang="zh-CN" altLang="en-US"/>
          </a:p>
        </p:txBody>
      </p:sp>
    </p:spTree>
    <p:extLst>
      <p:ext uri="{BB962C8B-B14F-4D97-AF65-F5344CB8AC3E}">
        <p14:creationId xmlns:p14="http://schemas.microsoft.com/office/powerpoint/2010/main" val="2039799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srcRect r="43193"/>
          <a:stretch>
            <a:fillRect/>
          </a:stretch>
        </p:blipFill>
        <p:spPr>
          <a:xfrm>
            <a:off x="9237869" y="1052513"/>
            <a:ext cx="2954132" cy="5200339"/>
          </a:xfrm>
          <a:prstGeom prst="rect">
            <a:avLst/>
          </a:prstGeom>
        </p:spPr>
      </p:pic>
    </p:spTree>
    <p:extLst>
      <p:ext uri="{BB962C8B-B14F-4D97-AF65-F5344CB8AC3E}">
        <p14:creationId xmlns:p14="http://schemas.microsoft.com/office/powerpoint/2010/main" val="1553959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结尾幻灯片">
    <p:spTree>
      <p:nvGrpSpPr>
        <p:cNvPr id="1" name=""/>
        <p:cNvGrpSpPr/>
        <p:nvPr/>
      </p:nvGrpSpPr>
      <p:grpSpPr>
        <a:xfrm>
          <a:off x="0" y="0"/>
          <a:ext cx="0" cy="0"/>
          <a:chOff x="0" y="0"/>
          <a:chExt cx="0" cy="0"/>
        </a:xfrm>
      </p:grpSpPr>
      <p:grpSp>
        <p:nvGrpSpPr>
          <p:cNvPr id="11" name="组合 10"/>
          <p:cNvGrpSpPr/>
          <p:nvPr userDrawn="1"/>
        </p:nvGrpSpPr>
        <p:grpSpPr>
          <a:xfrm rot="19976833">
            <a:off x="677043" y="138257"/>
            <a:ext cx="6581166" cy="6581166"/>
            <a:chOff x="1337912" y="7055318"/>
            <a:chExt cx="4273616" cy="4273616"/>
          </a:xfrm>
        </p:grpSpPr>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3021" t="2701" r="2778" b="2973"/>
            <a:stretch>
              <a:fillRect/>
            </a:stretch>
          </p:blipFill>
          <p:spPr>
            <a:xfrm>
              <a:off x="1337912" y="7064942"/>
              <a:ext cx="4273616" cy="4254367"/>
            </a:xfrm>
            <a:prstGeom prst="ellipse">
              <a:avLst/>
            </a:prstGeom>
          </p:spPr>
        </p:pic>
        <p:sp>
          <p:nvSpPr>
            <p:cNvPr id="13" name="椭圆 12"/>
            <p:cNvSpPr/>
            <p:nvPr userDrawn="1"/>
          </p:nvSpPr>
          <p:spPr>
            <a:xfrm>
              <a:off x="1337912" y="7055317"/>
              <a:ext cx="4273616" cy="4273616"/>
            </a:xfrm>
            <a:prstGeom prst="ellipse">
              <a:avLst/>
            </a:prstGeom>
            <a:solidFill>
              <a:schemeClr val="bg1">
                <a:alpha val="9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ctrTitle" hasCustomPrompt="1"/>
          </p:nvPr>
        </p:nvSpPr>
        <p:spPr>
          <a:xfrm>
            <a:off x="2387598" y="2391494"/>
            <a:ext cx="5134992" cy="719861"/>
          </a:xfrm>
        </p:spPr>
        <p:txBody>
          <a:bodyPr anchor="b">
            <a:normAutofit/>
          </a:bodyPr>
          <a:lstStyle>
            <a:lvl1pPr algn="l">
              <a:defRPr sz="3600"/>
            </a:lvl1pPr>
          </a:lstStyle>
          <a:p>
            <a:r>
              <a:rPr lang="zh-CN" altLang="en-US" dirty="0"/>
              <a:t>恳请指正</a:t>
            </a:r>
          </a:p>
        </p:txBody>
      </p:sp>
      <p:sp>
        <p:nvSpPr>
          <p:cNvPr id="9" name="任意多边形 25"/>
          <p:cNvSpPr/>
          <p:nvPr userDrawn="1"/>
        </p:nvSpPr>
        <p:spPr>
          <a:xfrm rot="10800000">
            <a:off x="3262047" y="1130300"/>
            <a:ext cx="8258441" cy="4597081"/>
          </a:xfrm>
          <a:custGeom>
            <a:avLst/>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476058 h 4508626"/>
              <a:gd name="connsiteX3-7" fmla="*/ 6762786 w 6826313"/>
              <a:gd name="connsiteY3-8" fmla="*/ 2139756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76058 h 4508626"/>
              <a:gd name="connsiteX3-39" fmla="*/ 6762786 w 6826313"/>
              <a:gd name="connsiteY3-40" fmla="*/ 2455298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76058 h 4508626"/>
              <a:gd name="connsiteX3-75" fmla="*/ 6762786 w 6826313"/>
              <a:gd name="connsiteY3-76" fmla="*/ 2476058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756057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76058 h 4508626"/>
              <a:gd name="connsiteX3-111" fmla="*/ 6762786 w 6826313"/>
              <a:gd name="connsiteY3-112" fmla="*/ 2476058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403147 h 4508626"/>
              <a:gd name="connsiteX14-133" fmla="*/ 6826313 w 6826313"/>
              <a:gd name="connsiteY14-134" fmla="*/ 3756057 h 4508626"/>
              <a:gd name="connsiteX15-135" fmla="*/ 6826313 w 6826313"/>
              <a:gd name="connsiteY15-136" fmla="*/ 4508626 h 4508626"/>
              <a:gd name="connsiteX16-137" fmla="*/ 0 w 6826313"/>
              <a:gd name="connsiteY16-138" fmla="*/ 4508626 h 4508626"/>
              <a:gd name="connsiteX17-139" fmla="*/ 0 w 6826313"/>
              <a:gd name="connsiteY17-140" fmla="*/ 0 h 4508626"/>
              <a:gd name="connsiteX0-141" fmla="*/ 6762786 w 6829816"/>
              <a:gd name="connsiteY0-142" fmla="*/ 1876457 h 4508626"/>
              <a:gd name="connsiteX1-143" fmla="*/ 6826313 w 6829816"/>
              <a:gd name="connsiteY1-144" fmla="*/ 1876457 h 4508626"/>
              <a:gd name="connsiteX2-145" fmla="*/ 6826313 w 6829816"/>
              <a:gd name="connsiteY2-146" fmla="*/ 2476058 h 4508626"/>
              <a:gd name="connsiteX3-147" fmla="*/ 6762786 w 6829816"/>
              <a:gd name="connsiteY3-148" fmla="*/ 2476058 h 4508626"/>
              <a:gd name="connsiteX4-149" fmla="*/ 6762786 w 6829816"/>
              <a:gd name="connsiteY4-150" fmla="*/ 1876457 h 4508626"/>
              <a:gd name="connsiteX5-151" fmla="*/ 0 w 6829816"/>
              <a:gd name="connsiteY5-152" fmla="*/ 0 h 4508626"/>
              <a:gd name="connsiteX6-153" fmla="*/ 6826313 w 6829816"/>
              <a:gd name="connsiteY6-154" fmla="*/ 0 h 4508626"/>
              <a:gd name="connsiteX7-155" fmla="*/ 6826313 w 6829816"/>
              <a:gd name="connsiteY7-156" fmla="*/ 959382 h 4508626"/>
              <a:gd name="connsiteX8-157" fmla="*/ 6762786 w 6829816"/>
              <a:gd name="connsiteY8-158" fmla="*/ 959382 h 4508626"/>
              <a:gd name="connsiteX9-159" fmla="*/ 6762786 w 6829816"/>
              <a:gd name="connsiteY9-160" fmla="*/ 63527 h 4508626"/>
              <a:gd name="connsiteX10-161" fmla="*/ 63527 w 6829816"/>
              <a:gd name="connsiteY10-162" fmla="*/ 63527 h 4508626"/>
              <a:gd name="connsiteX11-163" fmla="*/ 63527 w 6829816"/>
              <a:gd name="connsiteY11-164" fmla="*/ 4445099 h 4508626"/>
              <a:gd name="connsiteX12-165" fmla="*/ 6762786 w 6829816"/>
              <a:gd name="connsiteY12-166" fmla="*/ 4445099 h 4508626"/>
              <a:gd name="connsiteX13-167" fmla="*/ 6762786 w 6829816"/>
              <a:gd name="connsiteY13-168" fmla="*/ 3403147 h 4508626"/>
              <a:gd name="connsiteX14-169" fmla="*/ 6829816 w 6829816"/>
              <a:gd name="connsiteY14-170" fmla="*/ 3415603 h 4508626"/>
              <a:gd name="connsiteX15-171" fmla="*/ 6826313 w 6829816"/>
              <a:gd name="connsiteY15-172" fmla="*/ 4508626 h 4508626"/>
              <a:gd name="connsiteX16-173" fmla="*/ 0 w 6829816"/>
              <a:gd name="connsiteY16-174" fmla="*/ 4508626 h 4508626"/>
              <a:gd name="connsiteX17-175" fmla="*/ 0 w 6829816"/>
              <a:gd name="connsiteY17-176" fmla="*/ 0 h 4508626"/>
              <a:gd name="connsiteX0-177" fmla="*/ 6762786 w 6833319"/>
              <a:gd name="connsiteY0-178" fmla="*/ 1876457 h 4508626"/>
              <a:gd name="connsiteX1-179" fmla="*/ 6826313 w 6833319"/>
              <a:gd name="connsiteY1-180" fmla="*/ 1876457 h 4508626"/>
              <a:gd name="connsiteX2-181" fmla="*/ 6826313 w 6833319"/>
              <a:gd name="connsiteY2-182" fmla="*/ 2476058 h 4508626"/>
              <a:gd name="connsiteX3-183" fmla="*/ 6762786 w 6833319"/>
              <a:gd name="connsiteY3-184" fmla="*/ 2476058 h 4508626"/>
              <a:gd name="connsiteX4-185" fmla="*/ 6762786 w 6833319"/>
              <a:gd name="connsiteY4-186" fmla="*/ 1876457 h 4508626"/>
              <a:gd name="connsiteX5-187" fmla="*/ 0 w 6833319"/>
              <a:gd name="connsiteY5-188" fmla="*/ 0 h 4508626"/>
              <a:gd name="connsiteX6-189" fmla="*/ 6826313 w 6833319"/>
              <a:gd name="connsiteY6-190" fmla="*/ 0 h 4508626"/>
              <a:gd name="connsiteX7-191" fmla="*/ 6826313 w 6833319"/>
              <a:gd name="connsiteY7-192" fmla="*/ 959382 h 4508626"/>
              <a:gd name="connsiteX8-193" fmla="*/ 6762786 w 6833319"/>
              <a:gd name="connsiteY8-194" fmla="*/ 959382 h 4508626"/>
              <a:gd name="connsiteX9-195" fmla="*/ 6762786 w 6833319"/>
              <a:gd name="connsiteY9-196" fmla="*/ 63527 h 4508626"/>
              <a:gd name="connsiteX10-197" fmla="*/ 63527 w 6833319"/>
              <a:gd name="connsiteY10-198" fmla="*/ 63527 h 4508626"/>
              <a:gd name="connsiteX11-199" fmla="*/ 63527 w 6833319"/>
              <a:gd name="connsiteY11-200" fmla="*/ 4445099 h 4508626"/>
              <a:gd name="connsiteX12-201" fmla="*/ 6762786 w 6833319"/>
              <a:gd name="connsiteY12-202" fmla="*/ 4445099 h 4508626"/>
              <a:gd name="connsiteX13-203" fmla="*/ 6762786 w 6833319"/>
              <a:gd name="connsiteY13-204" fmla="*/ 3403147 h 4508626"/>
              <a:gd name="connsiteX14-205" fmla="*/ 6833319 w 6833319"/>
              <a:gd name="connsiteY14-206" fmla="*/ 3394844 h 4508626"/>
              <a:gd name="connsiteX15-207" fmla="*/ 6826313 w 6833319"/>
              <a:gd name="connsiteY15-208" fmla="*/ 4508626 h 4508626"/>
              <a:gd name="connsiteX16-209" fmla="*/ 0 w 6833319"/>
              <a:gd name="connsiteY16-210" fmla="*/ 4508626 h 4508626"/>
              <a:gd name="connsiteX17-211" fmla="*/ 0 w 6833319"/>
              <a:gd name="connsiteY17-212" fmla="*/ 0 h 45086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65" y="connsiteY16-66"/>
              </a:cxn>
              <a:cxn ang="0">
                <a:pos x="connsiteX17-67" y="connsiteY17-68"/>
              </a:cxn>
            </a:cxnLst>
            <a:rect l="l" t="t" r="r" b="b"/>
            <a:pathLst>
              <a:path w="6833319" h="4508626">
                <a:moveTo>
                  <a:pt x="6762786" y="1876457"/>
                </a:moveTo>
                <a:lnTo>
                  <a:pt x="6826313" y="1876457"/>
                </a:lnTo>
                <a:lnTo>
                  <a:pt x="6826313" y="2476058"/>
                </a:lnTo>
                <a:lnTo>
                  <a:pt x="6762786" y="2476058"/>
                </a:ln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403147"/>
                </a:lnTo>
                <a:lnTo>
                  <a:pt x="6833319" y="3394844"/>
                </a:lnTo>
                <a:cubicBezTo>
                  <a:pt x="6832151" y="3759185"/>
                  <a:pt x="6827481" y="4144285"/>
                  <a:pt x="6826313" y="4508626"/>
                </a:cubicBezTo>
                <a:lnTo>
                  <a:pt x="0" y="4508626"/>
                </a:lnTo>
                <a:lnTo>
                  <a:pt x="0" y="0"/>
                </a:lnTo>
                <a:close/>
              </a:path>
            </a:pathLst>
          </a:cu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 name="日期占位符 3"/>
          <p:cNvSpPr>
            <a:spLocks noGrp="1"/>
          </p:cNvSpPr>
          <p:nvPr>
            <p:ph type="dt" sz="half" idx="2"/>
          </p:nvPr>
        </p:nvSpPr>
        <p:spPr>
          <a:xfrm>
            <a:off x="658813" y="6246372"/>
            <a:ext cx="2743200" cy="365125"/>
          </a:xfrm>
          <a:prstGeom prst="rect">
            <a:avLst/>
          </a:prstGeom>
        </p:spPr>
        <p:txBody>
          <a:bodyPr vert="horz" lIns="91440" tIns="45720" rIns="91440" bIns="45720" rtlCol="0" anchor="ctr"/>
          <a:lstStyle>
            <a:lvl1pPr algn="l">
              <a:defRPr sz="1000" b="1">
                <a:solidFill>
                  <a:schemeClr val="tx1">
                    <a:tint val="75000"/>
                  </a:schemeClr>
                </a:solidFill>
              </a:defRPr>
            </a:lvl1pPr>
          </a:lstStyle>
          <a:p>
            <a:endParaRPr lang="zh-CN" altLang="en-US" dirty="0"/>
          </a:p>
        </p:txBody>
      </p:sp>
      <p:sp>
        <p:nvSpPr>
          <p:cNvPr id="14" name="副标题 2"/>
          <p:cNvSpPr>
            <a:spLocks noGrp="1"/>
          </p:cNvSpPr>
          <p:nvPr>
            <p:ph type="subTitle" idx="1" hasCustomPrompt="1"/>
          </p:nvPr>
        </p:nvSpPr>
        <p:spPr>
          <a:xfrm>
            <a:off x="2387599" y="3978669"/>
            <a:ext cx="2768863" cy="310527"/>
          </a:xfrm>
        </p:spPr>
        <p:txBody>
          <a:bodyPr>
            <a:normAutofit/>
          </a:bodyPr>
          <a:lstStyle>
            <a:lvl1pPr marL="0" indent="0" algn="l">
              <a:buNone/>
              <a:defRPr sz="15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单击此处编辑姓名</a:t>
            </a:r>
          </a:p>
        </p:txBody>
      </p:sp>
      <p:sp>
        <p:nvSpPr>
          <p:cNvPr id="16" name="文本占位符 14"/>
          <p:cNvSpPr>
            <a:spLocks noGrp="1"/>
          </p:cNvSpPr>
          <p:nvPr>
            <p:ph type="body" sz="quarter" idx="10" hasCustomPrompt="1"/>
          </p:nvPr>
        </p:nvSpPr>
        <p:spPr>
          <a:xfrm>
            <a:off x="2389559" y="4369292"/>
            <a:ext cx="2766903" cy="317669"/>
          </a:xfrm>
        </p:spPr>
        <p:txBody>
          <a:bodyPr/>
          <a:lstStyle>
            <a:lvl1pPr marL="0" indent="0">
              <a:buNone/>
              <a:defRPr sz="1500" b="0"/>
            </a:lvl1pPr>
          </a:lstStyle>
          <a:p>
            <a:pPr lvl="0"/>
            <a:r>
              <a:rPr lang="zh-CN" altLang="en-US" dirty="0"/>
              <a:t>单击此处编辑单位或日期</a:t>
            </a:r>
          </a:p>
        </p:txBody>
      </p:sp>
    </p:spTree>
    <p:extLst>
      <p:ext uri="{BB962C8B-B14F-4D97-AF65-F5344CB8AC3E}">
        <p14:creationId xmlns:p14="http://schemas.microsoft.com/office/powerpoint/2010/main" val="2400790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58812" y="365126"/>
            <a:ext cx="10874375" cy="687388"/>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58812" y="1129287"/>
            <a:ext cx="10874375" cy="50403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658813" y="6246372"/>
            <a:ext cx="2743200" cy="365125"/>
          </a:xfrm>
          <a:prstGeom prst="rect">
            <a:avLst/>
          </a:prstGeom>
        </p:spPr>
        <p:txBody>
          <a:bodyPr vert="horz" lIns="91440" tIns="45720" rIns="91440" bIns="45720" rtlCol="0" anchor="ctr"/>
          <a:lstStyle>
            <a:lvl1pPr algn="l">
              <a:defRPr sz="1000" b="1">
                <a:solidFill>
                  <a:schemeClr val="tx1">
                    <a:tint val="75000"/>
                  </a:schemeClr>
                </a:solidFill>
              </a:defRPr>
            </a:lvl1pPr>
          </a:lstStyle>
          <a:p>
            <a:endParaRPr lang="zh-CN" altLang="en-US" dirty="0"/>
          </a:p>
        </p:txBody>
      </p:sp>
      <p:sp>
        <p:nvSpPr>
          <p:cNvPr id="5" name="页脚占位符 4"/>
          <p:cNvSpPr>
            <a:spLocks noGrp="1"/>
          </p:cNvSpPr>
          <p:nvPr>
            <p:ph type="ftr" sz="quarter" idx="3"/>
          </p:nvPr>
        </p:nvSpPr>
        <p:spPr>
          <a:xfrm>
            <a:off x="4038600" y="6238876"/>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599" y="6238876"/>
            <a:ext cx="2922587" cy="372621"/>
          </a:xfrm>
          <a:prstGeom prst="rect">
            <a:avLst/>
          </a:prstGeom>
        </p:spPr>
        <p:txBody>
          <a:bodyPr vert="horz" lIns="91440" tIns="45720" rIns="91440" bIns="45720" rtlCol="0" anchor="ctr"/>
          <a:lstStyle>
            <a:lvl1pPr algn="r">
              <a:defRPr sz="1200">
                <a:solidFill>
                  <a:schemeClr val="tx1">
                    <a:tint val="75000"/>
                  </a:schemeClr>
                </a:solidFill>
              </a:defRPr>
            </a:lvl1pPr>
          </a:lstStyle>
          <a:p>
            <a:fld id="{17B61D2E-5690-4C9D-A84F-76BBD1AD9F3C}" type="slidenum">
              <a:rPr lang="zh-CN" altLang="en-US" smtClean="0"/>
              <a:t>‹#›</a:t>
            </a:fld>
            <a:endParaRPr lang="zh-CN" altLang="en-US"/>
          </a:p>
        </p:txBody>
      </p:sp>
      <p:cxnSp>
        <p:nvCxnSpPr>
          <p:cNvPr id="8" name="直接连接符 7"/>
          <p:cNvCxnSpPr/>
          <p:nvPr userDrawn="1"/>
        </p:nvCxnSpPr>
        <p:spPr>
          <a:xfrm flipV="1">
            <a:off x="658813" y="1052514"/>
            <a:ext cx="10874375" cy="1"/>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0215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5.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slideLayout" Target="../slideLayouts/slideLayout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46219" y="1950099"/>
            <a:ext cx="10717132" cy="1204637"/>
          </a:xfrm>
        </p:spPr>
        <p:txBody>
          <a:bodyPr>
            <a:noAutofit/>
          </a:bodyPr>
          <a:lstStyle/>
          <a:p>
            <a:pPr>
              <a:lnSpc>
                <a:spcPct val="100000"/>
              </a:lnSpc>
            </a:pPr>
            <a:r>
              <a:rPr lang="zh-CN" altLang="zh-CN" sz="3200" dirty="0"/>
              <a:t>基于</a:t>
            </a:r>
            <a:r>
              <a:rPr lang="en-US" altLang="zh-CN" sz="3200" dirty="0"/>
              <a:t> AI Agent </a:t>
            </a:r>
            <a:r>
              <a:rPr lang="zh-CN" altLang="zh-CN" sz="3200" dirty="0"/>
              <a:t>的建筑幕墙韧性评估软件系统设计与实现</a:t>
            </a:r>
            <a:br>
              <a:rPr lang="en-US" altLang="zh-CN" sz="1800" dirty="0"/>
            </a:br>
            <a:r>
              <a:rPr lang="en-US" altLang="zh-CN" sz="1600" b="1" dirty="0">
                <a:effectLst/>
                <a:latin typeface="+mj-lt"/>
                <a:ea typeface="微软雅黑" panose="020B0503020204020204" pitchFamily="34" charset="-122"/>
              </a:rPr>
              <a:t>Design and Implementation of an AI Agent-Based Software System</a:t>
            </a:r>
            <a:br>
              <a:rPr lang="en-US" altLang="zh-CN" sz="1600" b="1" dirty="0">
                <a:effectLst/>
                <a:latin typeface="+mj-lt"/>
                <a:ea typeface="微软雅黑" panose="020B0503020204020204" pitchFamily="34" charset="-122"/>
              </a:rPr>
            </a:br>
            <a:r>
              <a:rPr lang="en-US" altLang="zh-CN" sz="1600" b="1" dirty="0">
                <a:effectLst/>
                <a:latin typeface="+mj-lt"/>
                <a:ea typeface="微软雅黑" panose="020B0503020204020204" pitchFamily="34" charset="-122"/>
              </a:rPr>
              <a:t>for Building Curtain Wall Resilience Assessment</a:t>
            </a:r>
            <a:endParaRPr lang="en-US" altLang="zh-CN" sz="1800" b="1" dirty="0">
              <a:effectLst/>
              <a:latin typeface="+mj-lt"/>
              <a:ea typeface="微软雅黑" panose="020B0503020204020204" pitchFamily="34" charset="-122"/>
            </a:endParaRPr>
          </a:p>
        </p:txBody>
      </p:sp>
      <p:sp>
        <p:nvSpPr>
          <p:cNvPr id="4" name="标题 1">
            <a:extLst>
              <a:ext uri="{FF2B5EF4-FFF2-40B4-BE49-F238E27FC236}">
                <a16:creationId xmlns:a16="http://schemas.microsoft.com/office/drawing/2014/main" id="{DB80170B-635B-79B8-6B08-145F5391354C}"/>
              </a:ext>
            </a:extLst>
          </p:cNvPr>
          <p:cNvSpPr txBox="1">
            <a:spLocks/>
          </p:cNvSpPr>
          <p:nvPr/>
        </p:nvSpPr>
        <p:spPr>
          <a:xfrm>
            <a:off x="3219289" y="3914775"/>
            <a:ext cx="2876711" cy="72460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marL="0" marR="0" lvl="0" indent="0" algn="l" defTabSz="914400" rtl="0" eaLnBrk="1" fontAlgn="auto" latinLnBrk="0" hangingPunct="1">
              <a:lnSpc>
                <a:spcPct val="150000"/>
              </a:lnSpc>
              <a:spcBef>
                <a:spcPct val="0"/>
              </a:spcBef>
              <a:spcAft>
                <a:spcPts val="0"/>
              </a:spcAft>
              <a:buClrTx/>
              <a:buSzTx/>
              <a:buFontTx/>
              <a:buNone/>
              <a:tabLst/>
              <a:defRPr/>
            </a:pPr>
            <a:r>
              <a:rPr lang="zh-CN" altLang="en-US" sz="1600" dirty="0">
                <a:solidFill>
                  <a:prstClr val="black"/>
                </a:solidFill>
                <a:latin typeface="微软雅黑"/>
                <a:ea typeface="微软雅黑" panose="020B0503020204020204" pitchFamily="34" charset="-122"/>
              </a:rPr>
              <a:t>答辩人</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：林继申</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指导教师：黄杰</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p:txBody>
      </p:sp>
      <p:sp>
        <p:nvSpPr>
          <p:cNvPr id="7" name="标题 1">
            <a:extLst>
              <a:ext uri="{FF2B5EF4-FFF2-40B4-BE49-F238E27FC236}">
                <a16:creationId xmlns:a16="http://schemas.microsoft.com/office/drawing/2014/main" id="{E5A4B498-0E92-2F56-6357-4353DEB0E74C}"/>
              </a:ext>
            </a:extLst>
          </p:cNvPr>
          <p:cNvSpPr txBox="1">
            <a:spLocks/>
          </p:cNvSpPr>
          <p:nvPr/>
        </p:nvSpPr>
        <p:spPr>
          <a:xfrm>
            <a:off x="8452885" y="5825407"/>
            <a:ext cx="3110466" cy="76318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marL="0" marR="0" lvl="0" indent="0" algn="ctr" defTabSz="914400" rtl="0" eaLnBrk="1" fontAlgn="auto" latinLnBrk="0" hangingPunct="1">
              <a:lnSpc>
                <a:spcPct val="15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同济大学</a:t>
            </a:r>
            <a:r>
              <a:rPr lang="zh-CN" altLang="en-US" sz="1600" dirty="0">
                <a:solidFill>
                  <a:prstClr val="black"/>
                </a:solidFill>
                <a:latin typeface="微软雅黑"/>
                <a:ea typeface="微软雅黑" panose="020B0503020204020204" pitchFamily="34" charset="-122"/>
              </a:rPr>
              <a:t>计算机科学与技术学院</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a:p>
            <a:pPr marL="0" marR="0" lvl="0" indent="0" algn="ctr" defTabSz="914400" rtl="0" eaLnBrk="1" fontAlgn="auto" latinLnBrk="0" hangingPunct="1">
              <a:lnSpc>
                <a:spcPct val="150000"/>
              </a:lnSpc>
              <a:spcBef>
                <a:spcPct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2025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年</a:t>
            </a: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 1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月 </a:t>
            </a:r>
            <a:r>
              <a:rPr lang="en-US" altLang="zh-CN" sz="1600" dirty="0">
                <a:solidFill>
                  <a:prstClr val="black"/>
                </a:solidFill>
                <a:latin typeface="微软雅黑"/>
                <a:ea typeface="微软雅黑" panose="020B0503020204020204" pitchFamily="34" charset="-122"/>
              </a:rPr>
              <a:t>4</a:t>
            </a: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日</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p:cNvSpPr txBox="1"/>
          <p:nvPr/>
        </p:nvSpPr>
        <p:spPr>
          <a:xfrm>
            <a:off x="1885653" y="2818959"/>
            <a:ext cx="1973436" cy="1172788"/>
          </a:xfrm>
          <a:prstGeom prst="rect">
            <a:avLst/>
          </a:prstGeom>
        </p:spPr>
        <p:txBody>
          <a:bodyPr>
            <a:normAutofit/>
          </a:bodyPr>
          <a:lstStyle>
            <a:lvl1pPr algn="l" defTabSz="914400" rtl="0" eaLnBrk="1" latinLnBrk="0" hangingPunct="1">
              <a:lnSpc>
                <a:spcPct val="90000"/>
              </a:lnSpc>
              <a:spcBef>
                <a:spcPct val="0"/>
              </a:spcBef>
              <a:buNone/>
              <a:defRPr sz="2800" b="1" kern="1200">
                <a:solidFill>
                  <a:schemeClr val="tx1"/>
                </a:solidFill>
                <a:latin typeface="+mj-ea"/>
                <a:ea typeface="+mj-ea"/>
                <a:cs typeface="+mj-cs"/>
              </a:defRPr>
            </a:lvl1pPr>
          </a:lstStyle>
          <a:p>
            <a:pPr marL="0" marR="0" lvl="0" indent="0" algn="ctr" defTabSz="914400" rtl="0" eaLnBrk="1" fontAlgn="auto" latinLnBrk="0" hangingPunct="1">
              <a:lnSpc>
                <a:spcPct val="125000"/>
              </a:lnSpc>
              <a:spcBef>
                <a:spcPct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微软雅黑"/>
                <a:ea typeface="微软雅黑"/>
                <a:cs typeface="+mj-cs"/>
              </a:rPr>
              <a:t>目录</a:t>
            </a:r>
            <a:endParaRPr kumimoji="0" lang="en-US" altLang="zh-CN" sz="3200" b="1" i="0" u="none" strike="noStrike" kern="1200" cap="none" spc="0" normalizeH="0" baseline="0" noProof="0" dirty="0">
              <a:ln>
                <a:noFill/>
              </a:ln>
              <a:solidFill>
                <a:prstClr val="black"/>
              </a:solidFill>
              <a:effectLst/>
              <a:uLnTx/>
              <a:uFillTx/>
              <a:latin typeface="微软雅黑"/>
              <a:ea typeface="微软雅黑"/>
              <a:cs typeface="+mj-cs"/>
            </a:endParaRPr>
          </a:p>
          <a:p>
            <a:pPr marL="0" marR="0" lvl="0" indent="0" algn="ctr" defTabSz="914400" rtl="0" eaLnBrk="1" fontAlgn="auto" latinLnBrk="0" hangingPunct="1">
              <a:lnSpc>
                <a:spcPct val="125000"/>
              </a:lnSpc>
              <a:spcBef>
                <a:spcPct val="0"/>
              </a:spcBef>
              <a:spcAft>
                <a:spcPts val="0"/>
              </a:spcAft>
              <a:buClrTx/>
              <a:buSzTx/>
              <a:buFontTx/>
              <a:buNone/>
              <a:tabLst/>
              <a:defRPr/>
            </a:pPr>
            <a:r>
              <a:rPr kumimoji="0" lang="en-US" altLang="zh-CN" sz="2300" b="1" i="0" u="none" strike="noStrike" kern="1200" cap="none" spc="0" normalizeH="0" baseline="0" noProof="0" dirty="0">
                <a:ln>
                  <a:noFill/>
                </a:ln>
                <a:solidFill>
                  <a:srgbClr val="002060"/>
                </a:solidFill>
                <a:effectLst/>
                <a:uLnTx/>
                <a:uFillTx/>
                <a:latin typeface="微软雅黑"/>
                <a:ea typeface="微软雅黑"/>
                <a:cs typeface="+mj-cs"/>
              </a:rPr>
              <a:t>Contents</a:t>
            </a:r>
            <a:endParaRPr kumimoji="0" lang="zh-CN" altLang="en-US" sz="2300" b="1" i="0" u="none" strike="noStrike" kern="1200" cap="none" spc="0" normalizeH="0" baseline="0" noProof="0" dirty="0">
              <a:ln>
                <a:noFill/>
              </a:ln>
              <a:solidFill>
                <a:srgbClr val="002060"/>
              </a:solidFill>
              <a:effectLst/>
              <a:uLnTx/>
              <a:uFillTx/>
              <a:latin typeface="微软雅黑"/>
              <a:ea typeface="微软雅黑"/>
              <a:cs typeface="+mj-cs"/>
            </a:endParaRPr>
          </a:p>
        </p:txBody>
      </p:sp>
      <p:cxnSp>
        <p:nvCxnSpPr>
          <p:cNvPr id="23" name="直接连接符 22"/>
          <p:cNvCxnSpPr>
            <a:cxnSpLocks/>
          </p:cNvCxnSpPr>
          <p:nvPr/>
        </p:nvCxnSpPr>
        <p:spPr>
          <a:xfrm>
            <a:off x="4134126" y="830232"/>
            <a:ext cx="0" cy="5120230"/>
          </a:xfrm>
          <a:prstGeom prst="line">
            <a:avLst/>
          </a:prstGeom>
        </p:spPr>
        <p:style>
          <a:lnRef idx="1">
            <a:schemeClr val="accent1"/>
          </a:lnRef>
          <a:fillRef idx="0">
            <a:schemeClr val="accent1"/>
          </a:fillRef>
          <a:effectRef idx="0">
            <a:schemeClr val="accent1"/>
          </a:effectRef>
          <a:fontRef idx="minor">
            <a:schemeClr val="tx1"/>
          </a:fontRef>
        </p:style>
      </p:cxnSp>
      <p:grpSp>
        <p:nvGrpSpPr>
          <p:cNvPr id="55" name="组合 54"/>
          <p:cNvGrpSpPr/>
          <p:nvPr/>
        </p:nvGrpSpPr>
        <p:grpSpPr>
          <a:xfrm>
            <a:off x="898936" y="2464481"/>
            <a:ext cx="1973435" cy="1831294"/>
            <a:chOff x="3499700" y="3154849"/>
            <a:chExt cx="1107440" cy="838200"/>
          </a:xfrm>
        </p:grpSpPr>
        <p:cxnSp>
          <p:nvCxnSpPr>
            <p:cNvPr id="45" name="直接连接符 44"/>
            <p:cNvCxnSpPr/>
            <p:nvPr/>
          </p:nvCxnSpPr>
          <p:spPr>
            <a:xfrm>
              <a:off x="3499700" y="3154849"/>
              <a:ext cx="1107440" cy="0"/>
            </a:xfrm>
            <a:prstGeom prst="line">
              <a:avLst/>
            </a:prstGeom>
            <a:ln w="41275" cap="rnd">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3711367" y="3992574"/>
              <a:ext cx="895773" cy="475"/>
            </a:xfrm>
            <a:prstGeom prst="line">
              <a:avLst/>
            </a:prstGeom>
            <a:ln w="41275" cap="rnd">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3711367" y="3154849"/>
              <a:ext cx="0" cy="837725"/>
            </a:xfrm>
            <a:prstGeom prst="line">
              <a:avLst/>
            </a:prstGeom>
            <a:ln w="41275" cap="rnd">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4607140" y="3154849"/>
              <a:ext cx="0" cy="130218"/>
            </a:xfrm>
            <a:prstGeom prst="line">
              <a:avLst/>
            </a:prstGeom>
            <a:ln w="41275" cap="rnd">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4607140" y="3862356"/>
              <a:ext cx="0" cy="130218"/>
            </a:xfrm>
            <a:prstGeom prst="line">
              <a:avLst/>
            </a:prstGeom>
            <a:ln w="41275" cap="rnd">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CE73EFFC-0B09-FA91-313E-706EE85E4A21}"/>
              </a:ext>
            </a:extLst>
          </p:cNvPr>
          <p:cNvGrpSpPr/>
          <p:nvPr/>
        </p:nvGrpSpPr>
        <p:grpSpPr>
          <a:xfrm>
            <a:off x="4939356" y="707978"/>
            <a:ext cx="5976775" cy="833626"/>
            <a:chOff x="5085129" y="793703"/>
            <a:chExt cx="5976775" cy="833626"/>
          </a:xfrm>
        </p:grpSpPr>
        <p:sp>
          <p:nvSpPr>
            <p:cNvPr id="6" name="椭圆 5"/>
            <p:cNvSpPr/>
            <p:nvPr/>
          </p:nvSpPr>
          <p:spPr>
            <a:xfrm>
              <a:off x="5085129" y="915957"/>
              <a:ext cx="646332" cy="6463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a:ea typeface="微软雅黑"/>
                  <a:cs typeface="+mn-cs"/>
                </a:rPr>
                <a:t>1</a:t>
              </a:r>
              <a:endParaRPr kumimoji="0" lang="zh-CN" altLang="en-US" sz="24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0" name="文本框 9"/>
            <p:cNvSpPr txBox="1"/>
            <p:nvPr/>
          </p:nvSpPr>
          <p:spPr>
            <a:xfrm>
              <a:off x="5866338" y="793703"/>
              <a:ext cx="5195566" cy="833626"/>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lang="zh-CN" altLang="en-US" sz="2400" b="1" dirty="0">
                  <a:solidFill>
                    <a:prstClr val="black"/>
                  </a:solidFill>
                  <a:latin typeface="微软雅黑"/>
                  <a:ea typeface="微软雅黑"/>
                </a:rPr>
                <a:t>课题</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rPr>
                <a:t>背景及</a:t>
              </a:r>
              <a:r>
                <a:rPr lang="zh-CN" altLang="en-US" sz="2400" b="1" dirty="0">
                  <a:solidFill>
                    <a:prstClr val="black"/>
                  </a:solidFill>
                  <a:latin typeface="微软雅黑"/>
                  <a:ea typeface="微软雅黑"/>
                </a:rPr>
                <a:t>意义</a:t>
              </a:r>
              <a:endPar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endParaRPr>
            </a:p>
            <a:p>
              <a:pPr>
                <a:lnSpc>
                  <a:spcPct val="125000"/>
                </a:lnSpc>
                <a:defRPr/>
              </a:pPr>
              <a:r>
                <a:rPr kumimoji="0" lang="en-US" altLang="zh-CN" sz="1600" b="1" u="none" strike="noStrike" kern="1200" cap="none" spc="0" normalizeH="0" baseline="0" noProof="0" dirty="0">
                  <a:ln>
                    <a:noFill/>
                  </a:ln>
                  <a:solidFill>
                    <a:srgbClr val="002060"/>
                  </a:solidFill>
                  <a:effectLst/>
                  <a:uLnTx/>
                  <a:uFillTx/>
                  <a:latin typeface="微软雅黑"/>
                  <a:ea typeface="微软雅黑"/>
                  <a:cs typeface="+mn-cs"/>
                </a:rPr>
                <a:t>Background and Significance</a:t>
              </a:r>
              <a:endParaRPr kumimoji="0" lang="zh-CN" altLang="en-US" sz="1600" b="1" u="none" strike="noStrike" kern="1200" cap="none" spc="0" normalizeH="0" baseline="0" noProof="0" dirty="0">
                <a:ln>
                  <a:noFill/>
                </a:ln>
                <a:solidFill>
                  <a:srgbClr val="002060"/>
                </a:solidFill>
                <a:effectLst/>
                <a:uLnTx/>
                <a:uFillTx/>
                <a:latin typeface="微软雅黑"/>
                <a:ea typeface="微软雅黑"/>
                <a:cs typeface="+mn-cs"/>
              </a:endParaRPr>
            </a:p>
          </p:txBody>
        </p:sp>
      </p:grpSp>
      <p:grpSp>
        <p:nvGrpSpPr>
          <p:cNvPr id="25" name="组合 24">
            <a:extLst>
              <a:ext uri="{FF2B5EF4-FFF2-40B4-BE49-F238E27FC236}">
                <a16:creationId xmlns:a16="http://schemas.microsoft.com/office/drawing/2014/main" id="{043010AF-DD4A-98DE-70CE-AB61557C92DE}"/>
              </a:ext>
            </a:extLst>
          </p:cNvPr>
          <p:cNvGrpSpPr/>
          <p:nvPr/>
        </p:nvGrpSpPr>
        <p:grpSpPr>
          <a:xfrm>
            <a:off x="4939356" y="1826453"/>
            <a:ext cx="5976775" cy="833626"/>
            <a:chOff x="5085129" y="1898603"/>
            <a:chExt cx="5976775" cy="833626"/>
          </a:xfrm>
        </p:grpSpPr>
        <p:sp>
          <p:nvSpPr>
            <p:cNvPr id="4" name="椭圆 3">
              <a:extLst>
                <a:ext uri="{FF2B5EF4-FFF2-40B4-BE49-F238E27FC236}">
                  <a16:creationId xmlns:a16="http://schemas.microsoft.com/office/drawing/2014/main" id="{92C2460F-1A6D-B506-B1DA-3A572558FC74}"/>
                </a:ext>
              </a:extLst>
            </p:cNvPr>
            <p:cNvSpPr/>
            <p:nvPr/>
          </p:nvSpPr>
          <p:spPr>
            <a:xfrm>
              <a:off x="5085129" y="2020857"/>
              <a:ext cx="646332" cy="6463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a:ea typeface="微软雅黑"/>
                  <a:cs typeface="+mn-cs"/>
                </a:rPr>
                <a:t>2</a:t>
              </a:r>
              <a:endParaRPr kumimoji="0" lang="zh-CN" altLang="en-US" sz="24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9" name="文本框 8">
              <a:extLst>
                <a:ext uri="{FF2B5EF4-FFF2-40B4-BE49-F238E27FC236}">
                  <a16:creationId xmlns:a16="http://schemas.microsoft.com/office/drawing/2014/main" id="{457D35C7-312D-214B-D248-296BE6A5F9A9}"/>
                </a:ext>
              </a:extLst>
            </p:cNvPr>
            <p:cNvSpPr txBox="1"/>
            <p:nvPr/>
          </p:nvSpPr>
          <p:spPr>
            <a:xfrm>
              <a:off x="5866338" y="1898603"/>
              <a:ext cx="5195566" cy="833626"/>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rPr>
                <a:t>相关研究概述</a:t>
              </a:r>
            </a:p>
            <a:p>
              <a:pPr>
                <a:lnSpc>
                  <a:spcPct val="125000"/>
                </a:lnSpc>
                <a:defRPr/>
              </a:pPr>
              <a:r>
                <a:rPr kumimoji="0" lang="en-US" altLang="zh-CN" sz="1600" b="1" i="0" u="none" strike="noStrike" kern="1200" cap="none" spc="0" normalizeH="0" baseline="0" noProof="0" dirty="0">
                  <a:ln>
                    <a:noFill/>
                  </a:ln>
                  <a:solidFill>
                    <a:srgbClr val="002060"/>
                  </a:solidFill>
                  <a:effectLst/>
                  <a:uLnTx/>
                  <a:uFillTx/>
                  <a:latin typeface="微软雅黑"/>
                  <a:ea typeface="微软雅黑"/>
                  <a:cs typeface="+mn-cs"/>
                </a:rPr>
                <a:t>Overview of Related Research</a:t>
              </a:r>
            </a:p>
          </p:txBody>
        </p:sp>
      </p:grpSp>
      <p:grpSp>
        <p:nvGrpSpPr>
          <p:cNvPr id="26" name="组合 25">
            <a:extLst>
              <a:ext uri="{FF2B5EF4-FFF2-40B4-BE49-F238E27FC236}">
                <a16:creationId xmlns:a16="http://schemas.microsoft.com/office/drawing/2014/main" id="{7277EA09-925A-5F00-AE0D-C589EF416170}"/>
              </a:ext>
            </a:extLst>
          </p:cNvPr>
          <p:cNvGrpSpPr/>
          <p:nvPr/>
        </p:nvGrpSpPr>
        <p:grpSpPr>
          <a:xfrm>
            <a:off x="4939356" y="2944928"/>
            <a:ext cx="5976775" cy="833626"/>
            <a:chOff x="5085129" y="2921209"/>
            <a:chExt cx="5976775" cy="833626"/>
          </a:xfrm>
        </p:grpSpPr>
        <p:sp>
          <p:nvSpPr>
            <p:cNvPr id="12" name="椭圆 11">
              <a:extLst>
                <a:ext uri="{FF2B5EF4-FFF2-40B4-BE49-F238E27FC236}">
                  <a16:creationId xmlns:a16="http://schemas.microsoft.com/office/drawing/2014/main" id="{2351CEEC-EF15-8BC6-9603-28B1C4D310E8}"/>
                </a:ext>
              </a:extLst>
            </p:cNvPr>
            <p:cNvSpPr/>
            <p:nvPr/>
          </p:nvSpPr>
          <p:spPr>
            <a:xfrm>
              <a:off x="5085129" y="3043463"/>
              <a:ext cx="646332" cy="6463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a:ea typeface="微软雅黑"/>
                  <a:cs typeface="+mn-cs"/>
                </a:rPr>
                <a:t>3</a:t>
              </a:r>
              <a:endParaRPr kumimoji="0" lang="zh-CN" altLang="en-US" sz="24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3" name="文本框 12">
              <a:extLst>
                <a:ext uri="{FF2B5EF4-FFF2-40B4-BE49-F238E27FC236}">
                  <a16:creationId xmlns:a16="http://schemas.microsoft.com/office/drawing/2014/main" id="{C5B15E50-E71B-7CEF-3F6E-5F2574DFC72C}"/>
                </a:ext>
              </a:extLst>
            </p:cNvPr>
            <p:cNvSpPr txBox="1"/>
            <p:nvPr/>
          </p:nvSpPr>
          <p:spPr>
            <a:xfrm>
              <a:off x="5866338" y="2921209"/>
              <a:ext cx="5195566" cy="833626"/>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rPr>
                <a:t>主要内容</a:t>
              </a:r>
            </a:p>
            <a:p>
              <a:pPr>
                <a:lnSpc>
                  <a:spcPct val="125000"/>
                </a:lnSpc>
                <a:defRPr/>
              </a:pPr>
              <a:r>
                <a:rPr kumimoji="0" lang="en-US" altLang="zh-CN" sz="1600" b="1" i="0" u="none" strike="noStrike" kern="1200" cap="none" spc="0" normalizeH="0" baseline="0" noProof="0" dirty="0">
                  <a:ln>
                    <a:noFill/>
                  </a:ln>
                  <a:solidFill>
                    <a:srgbClr val="002060"/>
                  </a:solidFill>
                  <a:effectLst/>
                  <a:uLnTx/>
                  <a:uFillTx/>
                  <a:latin typeface="微软雅黑"/>
                  <a:ea typeface="微软雅黑"/>
                  <a:cs typeface="+mn-cs"/>
                </a:rPr>
                <a:t>Main Content</a:t>
              </a:r>
            </a:p>
          </p:txBody>
        </p:sp>
      </p:grpSp>
      <p:grpSp>
        <p:nvGrpSpPr>
          <p:cNvPr id="27" name="组合 26">
            <a:extLst>
              <a:ext uri="{FF2B5EF4-FFF2-40B4-BE49-F238E27FC236}">
                <a16:creationId xmlns:a16="http://schemas.microsoft.com/office/drawing/2014/main" id="{EBC417DD-816C-8A97-FF23-3E188E1526B8}"/>
              </a:ext>
            </a:extLst>
          </p:cNvPr>
          <p:cNvGrpSpPr/>
          <p:nvPr/>
        </p:nvGrpSpPr>
        <p:grpSpPr>
          <a:xfrm>
            <a:off x="4939356" y="4063403"/>
            <a:ext cx="5976775" cy="833626"/>
            <a:chOff x="5085129" y="4125708"/>
            <a:chExt cx="5976775" cy="833626"/>
          </a:xfrm>
        </p:grpSpPr>
        <p:sp>
          <p:nvSpPr>
            <p:cNvPr id="16" name="椭圆 15">
              <a:extLst>
                <a:ext uri="{FF2B5EF4-FFF2-40B4-BE49-F238E27FC236}">
                  <a16:creationId xmlns:a16="http://schemas.microsoft.com/office/drawing/2014/main" id="{9653703C-6629-F4B2-5872-727A3FEDF2E6}"/>
                </a:ext>
              </a:extLst>
            </p:cNvPr>
            <p:cNvSpPr/>
            <p:nvPr/>
          </p:nvSpPr>
          <p:spPr>
            <a:xfrm>
              <a:off x="5085129" y="4247962"/>
              <a:ext cx="646332" cy="6463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a:ea typeface="微软雅黑"/>
                  <a:cs typeface="+mn-cs"/>
                </a:rPr>
                <a:t>4</a:t>
              </a:r>
              <a:endParaRPr kumimoji="0" lang="zh-CN" altLang="en-US" sz="24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8" name="文本框 17">
              <a:extLst>
                <a:ext uri="{FF2B5EF4-FFF2-40B4-BE49-F238E27FC236}">
                  <a16:creationId xmlns:a16="http://schemas.microsoft.com/office/drawing/2014/main" id="{F753F5D2-62C6-A4FF-018D-C15F01932297}"/>
                </a:ext>
              </a:extLst>
            </p:cNvPr>
            <p:cNvSpPr txBox="1"/>
            <p:nvPr/>
          </p:nvSpPr>
          <p:spPr>
            <a:xfrm>
              <a:off x="5866338" y="4125708"/>
              <a:ext cx="5195566" cy="833626"/>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lang="zh-CN" altLang="en-US" sz="2400" b="1" dirty="0">
                  <a:solidFill>
                    <a:prstClr val="black"/>
                  </a:solidFill>
                  <a:latin typeface="微软雅黑"/>
                  <a:ea typeface="微软雅黑"/>
                </a:rPr>
                <a:t>进度</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rPr>
                <a:t>安排</a:t>
              </a:r>
              <a:endParaRPr kumimoji="0" lang="en-US" altLang="zh-CN" sz="2400" b="1" i="0" u="none" strike="noStrike" kern="1200" cap="none" spc="0" normalizeH="0" baseline="0" noProof="0" dirty="0">
                <a:ln>
                  <a:noFill/>
                </a:ln>
                <a:solidFill>
                  <a:prstClr val="black"/>
                </a:solidFill>
                <a:effectLst/>
                <a:uLnTx/>
                <a:uFillTx/>
                <a:latin typeface="微软雅黑"/>
                <a:ea typeface="微软雅黑"/>
                <a:cs typeface="+mn-cs"/>
              </a:endParaRPr>
            </a:p>
            <a:p>
              <a:pPr>
                <a:lnSpc>
                  <a:spcPct val="125000"/>
                </a:lnSpc>
                <a:defRPr/>
              </a:pPr>
              <a:r>
                <a:rPr kumimoji="0" lang="en-US" altLang="zh-CN" sz="1600" b="1" i="0" u="none" strike="noStrike" kern="1200" cap="none" spc="0" normalizeH="0" baseline="0" noProof="0" dirty="0">
                  <a:ln>
                    <a:noFill/>
                  </a:ln>
                  <a:solidFill>
                    <a:srgbClr val="002060"/>
                  </a:solidFill>
                  <a:effectLst/>
                  <a:uLnTx/>
                  <a:uFillTx/>
                  <a:latin typeface="微软雅黑"/>
                  <a:ea typeface="微软雅黑"/>
                  <a:cs typeface="+mn-cs"/>
                </a:rPr>
                <a:t>Progress Plan</a:t>
              </a:r>
              <a:endParaRPr kumimoji="0" lang="zh-CN" altLang="en-US" sz="1600" b="1" i="0" u="none" strike="noStrike" kern="1200" cap="none" spc="0" normalizeH="0" baseline="0" noProof="0" dirty="0">
                <a:ln>
                  <a:noFill/>
                </a:ln>
                <a:solidFill>
                  <a:srgbClr val="002060"/>
                </a:solidFill>
                <a:effectLst/>
                <a:uLnTx/>
                <a:uFillTx/>
                <a:latin typeface="微软雅黑"/>
                <a:ea typeface="微软雅黑"/>
                <a:cs typeface="+mn-cs"/>
              </a:endParaRPr>
            </a:p>
          </p:txBody>
        </p:sp>
      </p:grpSp>
      <p:grpSp>
        <p:nvGrpSpPr>
          <p:cNvPr id="28" name="组合 27">
            <a:extLst>
              <a:ext uri="{FF2B5EF4-FFF2-40B4-BE49-F238E27FC236}">
                <a16:creationId xmlns:a16="http://schemas.microsoft.com/office/drawing/2014/main" id="{4B204E49-8525-C856-A9D7-DB1FE9C6FF92}"/>
              </a:ext>
            </a:extLst>
          </p:cNvPr>
          <p:cNvGrpSpPr/>
          <p:nvPr/>
        </p:nvGrpSpPr>
        <p:grpSpPr>
          <a:xfrm>
            <a:off x="4939356" y="5181876"/>
            <a:ext cx="5976775" cy="833626"/>
            <a:chOff x="5085129" y="5267601"/>
            <a:chExt cx="5976775" cy="833626"/>
          </a:xfrm>
        </p:grpSpPr>
        <p:sp>
          <p:nvSpPr>
            <p:cNvPr id="20" name="椭圆 19">
              <a:extLst>
                <a:ext uri="{FF2B5EF4-FFF2-40B4-BE49-F238E27FC236}">
                  <a16:creationId xmlns:a16="http://schemas.microsoft.com/office/drawing/2014/main" id="{05D392E2-11A5-A328-A68C-7A4F6568A2A7}"/>
                </a:ext>
              </a:extLst>
            </p:cNvPr>
            <p:cNvSpPr/>
            <p:nvPr/>
          </p:nvSpPr>
          <p:spPr>
            <a:xfrm>
              <a:off x="5085129" y="5389855"/>
              <a:ext cx="646332" cy="6463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微软雅黑"/>
                  <a:ea typeface="微软雅黑"/>
                  <a:cs typeface="+mn-cs"/>
                </a:rPr>
                <a:t>5</a:t>
              </a:r>
              <a:endParaRPr kumimoji="0" lang="zh-CN" altLang="en-US" sz="24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21" name="文本框 20">
              <a:extLst>
                <a:ext uri="{FF2B5EF4-FFF2-40B4-BE49-F238E27FC236}">
                  <a16:creationId xmlns:a16="http://schemas.microsoft.com/office/drawing/2014/main" id="{4A49B0DE-F879-FACA-DF34-994CE16AF3EC}"/>
                </a:ext>
              </a:extLst>
            </p:cNvPr>
            <p:cNvSpPr txBox="1"/>
            <p:nvPr/>
          </p:nvSpPr>
          <p:spPr>
            <a:xfrm>
              <a:off x="5866338" y="5267601"/>
              <a:ext cx="5195566" cy="833626"/>
            </a:xfrm>
            <a:prstGeom prst="rect">
              <a:avLst/>
            </a:prstGeom>
            <a:noFill/>
          </p:spPr>
          <p:txBody>
            <a:bodyPr wrap="square" rtlCol="0">
              <a:spAutoFit/>
            </a:bodyPr>
            <a:lstStyle/>
            <a:p>
              <a:pPr lvl="0">
                <a:lnSpc>
                  <a:spcPct val="125000"/>
                </a:lnSpc>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cs"/>
                </a:rPr>
                <a:t>预期成果</a:t>
              </a:r>
              <a:endParaRPr kumimoji="0" lang="en-US" altLang="zh-CN" sz="2400" b="1" i="0" u="none" strike="noStrike" kern="1200" cap="none" spc="0" normalizeH="0" baseline="0" noProof="0" dirty="0">
                <a:ln>
                  <a:noFill/>
                </a:ln>
                <a:solidFill>
                  <a:prstClr val="black"/>
                </a:solidFill>
                <a:effectLst/>
                <a:uLnTx/>
                <a:uFillTx/>
                <a:latin typeface="微软雅黑"/>
                <a:ea typeface="微软雅黑"/>
                <a:cs typeface="+mn-cs"/>
              </a:endParaRPr>
            </a:p>
            <a:p>
              <a:pPr>
                <a:lnSpc>
                  <a:spcPct val="125000"/>
                </a:lnSpc>
                <a:defRPr/>
              </a:pPr>
              <a:r>
                <a:rPr kumimoji="0" lang="en-US" altLang="zh-CN" sz="1600" b="1" i="0" u="none" strike="noStrike" kern="1200" cap="none" spc="0" normalizeH="0" baseline="0" noProof="0" dirty="0">
                  <a:ln>
                    <a:noFill/>
                  </a:ln>
                  <a:solidFill>
                    <a:srgbClr val="002060"/>
                  </a:solidFill>
                  <a:effectLst/>
                  <a:uLnTx/>
                  <a:uFillTx/>
                  <a:latin typeface="微软雅黑"/>
                  <a:ea typeface="微软雅黑"/>
                  <a:cs typeface="+mn-cs"/>
                </a:rPr>
                <a:t>Expected Outcomes</a:t>
              </a:r>
            </a:p>
          </p:txBody>
        </p:sp>
      </p:grpSp>
    </p:spTree>
    <p:extLst>
      <p:ext uri="{BB962C8B-B14F-4D97-AF65-F5344CB8AC3E}">
        <p14:creationId xmlns:p14="http://schemas.microsoft.com/office/powerpoint/2010/main" val="227114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43001" y="2644169"/>
            <a:ext cx="2035548"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600" b="1" i="0" u="none" strike="noStrike" kern="1200" cap="none" spc="0" normalizeH="0" baseline="0" noProof="0" dirty="0">
                <a:ln>
                  <a:noFill/>
                </a:ln>
                <a:solidFill>
                  <a:srgbClr val="5B9BD5">
                    <a:lumMod val="75000"/>
                  </a:srgbClr>
                </a:solidFill>
                <a:effectLst/>
                <a:uLnTx/>
                <a:uFillTx/>
                <a:latin typeface="微软雅黑"/>
                <a:ea typeface="微软雅黑"/>
                <a:cs typeface="+mn-cs"/>
              </a:rPr>
              <a:t>01</a:t>
            </a:r>
            <a:endParaRPr kumimoji="0" lang="zh-CN" altLang="en-US" sz="9600" b="1" i="0" u="none" strike="noStrike" kern="1200" cap="none" spc="0" normalizeH="0" baseline="0" noProof="0" dirty="0">
              <a:ln>
                <a:noFill/>
              </a:ln>
              <a:solidFill>
                <a:srgbClr val="5B9BD5">
                  <a:lumMod val="75000"/>
                </a:srgbClr>
              </a:solidFill>
              <a:effectLst/>
              <a:uLnTx/>
              <a:uFillTx/>
              <a:latin typeface="微软雅黑"/>
              <a:ea typeface="微软雅黑"/>
              <a:cs typeface="+mn-cs"/>
            </a:endParaRPr>
          </a:p>
        </p:txBody>
      </p:sp>
      <p:pic>
        <p:nvPicPr>
          <p:cNvPr id="11" name="图片 10"/>
          <p:cNvPicPr>
            <a:picLocks noChangeAspect="1"/>
          </p:cNvPicPr>
          <p:nvPr/>
        </p:nvPicPr>
        <p:blipFill>
          <a:blip r:embed="rId2"/>
          <a:stretch>
            <a:fillRect/>
          </a:stretch>
        </p:blipFill>
        <p:spPr>
          <a:xfrm>
            <a:off x="3178548" y="2127445"/>
            <a:ext cx="2992938" cy="2603109"/>
          </a:xfrm>
          <a:prstGeom prst="rect">
            <a:avLst/>
          </a:prstGeom>
        </p:spPr>
      </p:pic>
      <p:sp>
        <p:nvSpPr>
          <p:cNvPr id="4" name="文本框 3">
            <a:extLst>
              <a:ext uri="{FF2B5EF4-FFF2-40B4-BE49-F238E27FC236}">
                <a16:creationId xmlns:a16="http://schemas.microsoft.com/office/drawing/2014/main" id="{38E0A7E8-E9DE-1B42-34D6-52F464384F95}"/>
              </a:ext>
            </a:extLst>
          </p:cNvPr>
          <p:cNvSpPr txBox="1"/>
          <p:nvPr/>
        </p:nvSpPr>
        <p:spPr>
          <a:xfrm>
            <a:off x="4427527" y="2627722"/>
            <a:ext cx="7764473" cy="141205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prstClr val="black"/>
                </a:solidFill>
                <a:latin typeface="微软雅黑"/>
                <a:ea typeface="微软雅黑"/>
              </a:rPr>
              <a:t>课题</a:t>
            </a:r>
            <a:r>
              <a:rPr kumimoji="0" lang="zh-CN" altLang="en-US" sz="3600" b="1" i="0" u="none" strike="noStrike" kern="1200" cap="none" spc="0" normalizeH="0" baseline="0" noProof="0" dirty="0">
                <a:ln>
                  <a:noFill/>
                </a:ln>
                <a:solidFill>
                  <a:prstClr val="black"/>
                </a:solidFill>
                <a:effectLst/>
                <a:uLnTx/>
                <a:uFillTx/>
                <a:latin typeface="微软雅黑"/>
                <a:ea typeface="微软雅黑"/>
                <a:cs typeface="+mn-cs"/>
              </a:rPr>
              <a:t>背景及意义</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Background and Significance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dirty="0">
                <a:solidFill>
                  <a:prstClr val="black"/>
                </a:solidFill>
                <a:latin typeface="微软雅黑" panose="020B0503020204020204" pitchFamily="34" charset="-122"/>
                <a:ea typeface="微软雅黑" panose="020B0503020204020204" pitchFamily="34" charset="-122"/>
              </a:rPr>
              <a:t>课题</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背景及意义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Background and Significance</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
        <p:nvSpPr>
          <p:cNvPr id="9" name="椭圆 8">
            <a:extLst>
              <a:ext uri="{FF2B5EF4-FFF2-40B4-BE49-F238E27FC236}">
                <a16:creationId xmlns:a16="http://schemas.microsoft.com/office/drawing/2014/main" id="{6E53D553-D14A-9510-29DC-0BD871A344F7}"/>
              </a:ext>
            </a:extLst>
          </p:cNvPr>
          <p:cNvSpPr/>
          <p:nvPr/>
        </p:nvSpPr>
        <p:spPr>
          <a:xfrm>
            <a:off x="9267825"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0" name="椭圆 9">
            <a:extLst>
              <a:ext uri="{FF2B5EF4-FFF2-40B4-BE49-F238E27FC236}">
                <a16:creationId xmlns:a16="http://schemas.microsoft.com/office/drawing/2014/main" id="{2877A471-42AB-DC68-B092-54364D1165E9}"/>
              </a:ext>
            </a:extLst>
          </p:cNvPr>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1" name="椭圆 10">
            <a:extLst>
              <a:ext uri="{FF2B5EF4-FFF2-40B4-BE49-F238E27FC236}">
                <a16:creationId xmlns:a16="http://schemas.microsoft.com/office/drawing/2014/main" id="{7E09F7AF-EEF0-EBEE-ED1E-474E69E23ED3}"/>
              </a:ext>
            </a:extLst>
          </p:cNvPr>
          <p:cNvSpPr/>
          <p:nvPr/>
        </p:nvSpPr>
        <p:spPr>
          <a:xfrm>
            <a:off x="1021556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2" name="椭圆 11">
            <a:extLst>
              <a:ext uri="{FF2B5EF4-FFF2-40B4-BE49-F238E27FC236}">
                <a16:creationId xmlns:a16="http://schemas.microsoft.com/office/drawing/2014/main" id="{36115579-D11C-A2B3-C96B-4185E4804396}"/>
              </a:ext>
            </a:extLst>
          </p:cNvPr>
          <p:cNvSpPr/>
          <p:nvPr/>
        </p:nvSpPr>
        <p:spPr>
          <a:xfrm>
            <a:off x="10689430"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3" name="椭圆 12">
            <a:extLst>
              <a:ext uri="{FF2B5EF4-FFF2-40B4-BE49-F238E27FC236}">
                <a16:creationId xmlns:a16="http://schemas.microsoft.com/office/drawing/2014/main" id="{06ADDE0A-B9B2-A40E-B2FA-977756B309AC}"/>
              </a:ext>
            </a:extLst>
          </p:cNvPr>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4" name="文本框 13">
            <a:extLst>
              <a:ext uri="{FF2B5EF4-FFF2-40B4-BE49-F238E27FC236}">
                <a16:creationId xmlns:a16="http://schemas.microsoft.com/office/drawing/2014/main" id="{4AA90CCC-D1CA-F9E8-FA91-B16AAA5F0BD4}"/>
              </a:ext>
            </a:extLst>
          </p:cNvPr>
          <p:cNvSpPr txBox="1"/>
          <p:nvPr/>
        </p:nvSpPr>
        <p:spPr>
          <a:xfrm>
            <a:off x="666751" y="1219200"/>
            <a:ext cx="172111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1.1 </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课题背景</a:t>
            </a:r>
          </a:p>
        </p:txBody>
      </p:sp>
      <p:sp>
        <p:nvSpPr>
          <p:cNvPr id="16" name="文本框 15">
            <a:extLst>
              <a:ext uri="{FF2B5EF4-FFF2-40B4-BE49-F238E27FC236}">
                <a16:creationId xmlns:a16="http://schemas.microsoft.com/office/drawing/2014/main" id="{454A8DAA-908C-331F-F236-419D7AA1625C}"/>
              </a:ext>
            </a:extLst>
          </p:cNvPr>
          <p:cNvSpPr txBox="1"/>
          <p:nvPr/>
        </p:nvSpPr>
        <p:spPr>
          <a:xfrm>
            <a:off x="666749" y="1619310"/>
            <a:ext cx="7578617" cy="3003451"/>
          </a:xfrm>
          <a:prstGeom prst="rect">
            <a:avLst/>
          </a:prstGeom>
          <a:noFill/>
        </p:spPr>
        <p:txBody>
          <a:bodyPr wrap="square" rtlCol="0">
            <a:spAutoFit/>
          </a:bodyPr>
          <a:lstStyle/>
          <a:p>
            <a:pPr lvl="0" algn="just">
              <a:lnSpc>
                <a:spcPct val="150000"/>
              </a:lnSpc>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传统人工巡检幕墙存在效率低、主观性强、难以量化等局限。基于计算机视觉的自动化检测技术虽在特定缺陷识别上取得进展，但存在两大关键不足：</a:t>
            </a:r>
          </a:p>
          <a:p>
            <a:pPr marL="342900" lvl="0" indent="-342900" algn="just">
              <a:lnSpc>
                <a:spcPct val="150000"/>
              </a:lnSpc>
              <a:buFont typeface="+mj-lt"/>
              <a:buAutoNum type="arabicPeriod"/>
              <a:defRPr/>
            </a:pP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宋体" panose="02010600030101010101" pitchFamily="2" charset="-122"/>
              </a:rPr>
              <a:t>缺乏系统性分析框架</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：现有方法多为孤立缺陷检测，难以对海量图像进行高效批处理、空间关联与系统性归档。</a:t>
            </a:r>
          </a:p>
          <a:p>
            <a:pPr marL="342900" lvl="0" indent="-342900" algn="just">
              <a:lnSpc>
                <a:spcPct val="150000"/>
              </a:lnSpc>
              <a:buFont typeface="+mj-lt"/>
              <a:buAutoNum type="arabicPeriod"/>
              <a:defRPr/>
            </a:pP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宋体" panose="02010600030101010101" pitchFamily="2" charset="-122"/>
              </a:rPr>
              <a:t>功能目标局限</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：当前技术多停留在“缺陷检测”层面，未能上升到综合评估幕墙整体韧性的更高维度。</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algn="just">
              <a:lnSpc>
                <a:spcPct val="150000"/>
              </a:lnSpc>
              <a:defRPr/>
            </a:pPr>
            <a:r>
              <a:rPr lang="en-US" altLang="zh-CN" sz="1600" dirty="0">
                <a:solidFill>
                  <a:prstClr val="black"/>
                </a:solidFill>
                <a:latin typeface="微软雅黑" panose="020B0503020204020204" pitchFamily="34" charset="-122"/>
                <a:ea typeface="微软雅黑" panose="020B0503020204020204" pitchFamily="34" charset="-122"/>
                <a:cs typeface="宋体" panose="02010600030101010101" pitchFamily="2" charset="-122"/>
              </a:rPr>
              <a:t>AI Agent</a:t>
            </a:r>
            <a:r>
              <a:rPr lang="zh-CN" altLang="en-US" sz="1600" dirty="0">
                <a:solidFill>
                  <a:prstClr val="black"/>
                </a:solidFill>
                <a:latin typeface="微软雅黑" panose="020B0503020204020204" pitchFamily="34" charset="-122"/>
                <a:ea typeface="微软雅黑" panose="020B0503020204020204" pitchFamily="34" charset="-122"/>
                <a:cs typeface="宋体" panose="02010600030101010101" pitchFamily="2" charset="-122"/>
              </a:rPr>
              <a:t> 与大型语言模型的兴起，为构建具备自主任务分解、多源信息整合与复杂逻辑推理能力的智能评估系统提供了新范式。</a:t>
            </a:r>
          </a:p>
        </p:txBody>
      </p:sp>
      <p:pic>
        <p:nvPicPr>
          <p:cNvPr id="4" name="Picture 2" descr="文件无法预览。">
            <a:extLst>
              <a:ext uri="{FF2B5EF4-FFF2-40B4-BE49-F238E27FC236}">
                <a16:creationId xmlns:a16="http://schemas.microsoft.com/office/drawing/2014/main" id="{212C33BA-8A75-A491-2AE7-4D9C1E204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4744" y="2776880"/>
            <a:ext cx="1575253" cy="15752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文件无法预览。">
            <a:extLst>
              <a:ext uri="{FF2B5EF4-FFF2-40B4-BE49-F238E27FC236}">
                <a16:creationId xmlns:a16="http://schemas.microsoft.com/office/drawing/2014/main" id="{74307447-A4F8-30B0-A44E-68AA448C0D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49997" y="2776880"/>
            <a:ext cx="1575253" cy="157525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文件无法预览。">
            <a:extLst>
              <a:ext uri="{FF2B5EF4-FFF2-40B4-BE49-F238E27FC236}">
                <a16:creationId xmlns:a16="http://schemas.microsoft.com/office/drawing/2014/main" id="{A1840D13-2A07-F4E5-D5AB-902294DEEB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74743" y="1619310"/>
            <a:ext cx="3150505" cy="105016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I Agents: Memory Systems and Graph Database Integration">
            <a:extLst>
              <a:ext uri="{FF2B5EF4-FFF2-40B4-BE49-F238E27FC236}">
                <a16:creationId xmlns:a16="http://schemas.microsoft.com/office/drawing/2014/main" id="{BBF01611-2616-FF51-05D4-389791C97E0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8333" t="6959" r="16211" b="13191"/>
          <a:stretch>
            <a:fillRect/>
          </a:stretch>
        </p:blipFill>
        <p:spPr bwMode="auto">
          <a:xfrm>
            <a:off x="8374117" y="4600834"/>
            <a:ext cx="3150505" cy="2011224"/>
          </a:xfrm>
          <a:prstGeom prst="rect">
            <a:avLst/>
          </a:prstGeom>
          <a:noFill/>
          <a:extLst>
            <a:ext uri="{909E8E84-426E-40DD-AFC4-6F175D3DCCD1}">
              <a14:hiddenFill xmlns:a14="http://schemas.microsoft.com/office/drawing/2010/main">
                <a:solidFill>
                  <a:srgbClr val="FFFFFF"/>
                </a:solidFill>
              </a14:hiddenFill>
            </a:ext>
          </a:extLst>
        </p:spPr>
      </p:pic>
      <p:sp>
        <p:nvSpPr>
          <p:cNvPr id="18" name="文本框 17">
            <a:extLst>
              <a:ext uri="{FF2B5EF4-FFF2-40B4-BE49-F238E27FC236}">
                <a16:creationId xmlns:a16="http://schemas.microsoft.com/office/drawing/2014/main" id="{0E5D0CE9-95A3-41D8-C88C-E3E964BD722D}"/>
              </a:ext>
            </a:extLst>
          </p:cNvPr>
          <p:cNvSpPr txBox="1"/>
          <p:nvPr/>
        </p:nvSpPr>
        <p:spPr>
          <a:xfrm>
            <a:off x="666748" y="4685825"/>
            <a:ext cx="168828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1.2 </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课题意义</a:t>
            </a:r>
          </a:p>
        </p:txBody>
      </p:sp>
      <p:sp>
        <p:nvSpPr>
          <p:cNvPr id="19" name="文本框 18">
            <a:extLst>
              <a:ext uri="{FF2B5EF4-FFF2-40B4-BE49-F238E27FC236}">
                <a16:creationId xmlns:a16="http://schemas.microsoft.com/office/drawing/2014/main" id="{18216F4E-BFB3-789A-F4A6-0F34A1424EA0}"/>
              </a:ext>
            </a:extLst>
          </p:cNvPr>
          <p:cNvSpPr txBox="1"/>
          <p:nvPr/>
        </p:nvSpPr>
        <p:spPr>
          <a:xfrm>
            <a:off x="666748" y="5085935"/>
            <a:ext cx="7578617" cy="1526123"/>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defRPr/>
            </a:pPr>
            <a:r>
              <a:rPr lang="zh-CN" altLang="en-US" sz="1600" b="1" dirty="0">
                <a:solidFill>
                  <a:srgbClr val="002060"/>
                </a:solidFill>
              </a:rPr>
              <a:t>理论意义</a:t>
            </a:r>
            <a:r>
              <a:rPr lang="zh-CN" altLang="en-US" sz="1600" dirty="0"/>
              <a:t>：通过构建面向建筑幕墙韧性评估的</a:t>
            </a:r>
            <a:r>
              <a:rPr lang="en-US" altLang="zh-CN" sz="1600" dirty="0"/>
              <a:t> </a:t>
            </a:r>
            <a:r>
              <a:rPr lang="en" altLang="zh-CN" sz="1600" dirty="0"/>
              <a:t>AI Agent </a:t>
            </a:r>
            <a:r>
              <a:rPr lang="zh-CN" altLang="en-US" sz="1600" dirty="0"/>
              <a:t>系统，为</a:t>
            </a:r>
            <a:r>
              <a:rPr lang="en-US" altLang="zh-CN" sz="1600" dirty="0"/>
              <a:t> </a:t>
            </a:r>
            <a:r>
              <a:rPr lang="en" altLang="zh-CN" sz="1600" dirty="0"/>
              <a:t>AI </a:t>
            </a:r>
            <a:r>
              <a:rPr lang="zh-CN" altLang="en-US" sz="1600" dirty="0"/>
              <a:t>在垂直工程领域的多模态感知与智能决策一体化应用提供了创新范式与实践案例。</a:t>
            </a:r>
            <a:endParaRPr lang="en-US" altLang="zh-CN" sz="1600" dirty="0"/>
          </a:p>
          <a:p>
            <a:pPr marL="285750" indent="-285750" algn="just">
              <a:lnSpc>
                <a:spcPct val="150000"/>
              </a:lnSpc>
              <a:buFont typeface="Arial" panose="020B0604020202020204" pitchFamily="34" charset="0"/>
              <a:buChar char="•"/>
              <a:defRPr/>
            </a:pPr>
            <a:r>
              <a:rPr lang="zh-CN" altLang="en-US" sz="1600" b="1" dirty="0">
                <a:solidFill>
                  <a:srgbClr val="002060"/>
                </a:solidFill>
                <a:latin typeface="微软雅黑" panose="020B0503020204020204" pitchFamily="34" charset="-122"/>
                <a:ea typeface="微软雅黑" panose="020B0503020204020204" pitchFamily="34" charset="-122"/>
                <a:cs typeface="宋体" panose="02010600030101010101" pitchFamily="2" charset="-122"/>
              </a:rPr>
              <a:t>实践意义</a:t>
            </a:r>
            <a:r>
              <a:rPr lang="zh-CN" altLang="en-US" sz="1600" dirty="0">
                <a:solidFill>
                  <a:prstClr val="black"/>
                </a:solidFill>
                <a:latin typeface="微软雅黑" panose="020B0503020204020204" pitchFamily="34" charset="-122"/>
                <a:ea typeface="微软雅黑" panose="020B0503020204020204" pitchFamily="34" charset="-122"/>
                <a:cs typeface="宋体" panose="02010600030101010101" pitchFamily="2" charset="-122"/>
              </a:rPr>
              <a:t>：提升幕墙韧性评估效率与客观性、推动运维决策科学化、促进建筑运维智能化转型。</a:t>
            </a:r>
          </a:p>
        </p:txBody>
      </p:sp>
    </p:spTree>
    <p:extLst>
      <p:ext uri="{BB962C8B-B14F-4D97-AF65-F5344CB8AC3E}">
        <p14:creationId xmlns:p14="http://schemas.microsoft.com/office/powerpoint/2010/main" val="3009053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43001" y="2644169"/>
            <a:ext cx="2035548"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600" b="1" i="0" u="none" strike="noStrike" kern="1200" cap="none" spc="0" normalizeH="0" baseline="0" noProof="0" dirty="0">
                <a:ln>
                  <a:noFill/>
                </a:ln>
                <a:solidFill>
                  <a:srgbClr val="5B9BD5">
                    <a:lumMod val="75000"/>
                  </a:srgbClr>
                </a:solidFill>
                <a:effectLst/>
                <a:uLnTx/>
                <a:uFillTx/>
                <a:latin typeface="微软雅黑"/>
                <a:ea typeface="微软雅黑"/>
                <a:cs typeface="+mn-cs"/>
              </a:rPr>
              <a:t>02</a:t>
            </a:r>
            <a:endParaRPr kumimoji="0" lang="zh-CN" altLang="en-US" sz="9600" b="1" i="0" u="none" strike="noStrike" kern="1200" cap="none" spc="0" normalizeH="0" baseline="0" noProof="0" dirty="0">
              <a:ln>
                <a:noFill/>
              </a:ln>
              <a:solidFill>
                <a:srgbClr val="5B9BD5">
                  <a:lumMod val="75000"/>
                </a:srgbClr>
              </a:solidFill>
              <a:effectLst/>
              <a:uLnTx/>
              <a:uFillTx/>
              <a:latin typeface="微软雅黑"/>
              <a:ea typeface="微软雅黑"/>
              <a:cs typeface="+mn-cs"/>
            </a:endParaRPr>
          </a:p>
        </p:txBody>
      </p:sp>
      <p:pic>
        <p:nvPicPr>
          <p:cNvPr id="11" name="图片 10"/>
          <p:cNvPicPr>
            <a:picLocks noChangeAspect="1"/>
          </p:cNvPicPr>
          <p:nvPr/>
        </p:nvPicPr>
        <p:blipFill>
          <a:blip r:embed="rId2"/>
          <a:stretch>
            <a:fillRect/>
          </a:stretch>
        </p:blipFill>
        <p:spPr>
          <a:xfrm>
            <a:off x="3178548" y="2127445"/>
            <a:ext cx="2992938" cy="2603109"/>
          </a:xfrm>
          <a:prstGeom prst="rect">
            <a:avLst/>
          </a:prstGeom>
        </p:spPr>
      </p:pic>
      <p:sp>
        <p:nvSpPr>
          <p:cNvPr id="4" name="文本框 3">
            <a:extLst>
              <a:ext uri="{FF2B5EF4-FFF2-40B4-BE49-F238E27FC236}">
                <a16:creationId xmlns:a16="http://schemas.microsoft.com/office/drawing/2014/main" id="{38E0A7E8-E9DE-1B42-34D6-52F464384F95}"/>
              </a:ext>
            </a:extLst>
          </p:cNvPr>
          <p:cNvSpPr txBox="1"/>
          <p:nvPr/>
        </p:nvSpPr>
        <p:spPr>
          <a:xfrm>
            <a:off x="4427527" y="2627722"/>
            <a:ext cx="7764473" cy="141205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微软雅黑"/>
                <a:ea typeface="微软雅黑"/>
                <a:cs typeface="+mn-cs"/>
              </a:rPr>
              <a:t>相关研究概述</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Overview</a:t>
            </a:r>
            <a:r>
              <a:rPr kumimoji="0" lang="zh-CN" altLang="en-US" sz="2400" b="1" i="0" u="none" strike="noStrike" kern="1200" cap="none" spc="0" normalizeH="0" baseline="0" noProof="0" dirty="0">
                <a:ln>
                  <a:noFill/>
                </a:ln>
                <a:solidFill>
                  <a:srgbClr val="002060"/>
                </a:solidFill>
                <a:effectLst/>
                <a:uLnTx/>
                <a:uFillTx/>
                <a:latin typeface="微软雅黑"/>
                <a:ea typeface="微软雅黑"/>
                <a:cs typeface="+mn-cs"/>
              </a:rPr>
              <a:t> </a:t>
            </a: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of Related Research</a:t>
            </a:r>
          </a:p>
        </p:txBody>
      </p:sp>
    </p:spTree>
    <p:extLst>
      <p:ext uri="{BB962C8B-B14F-4D97-AF65-F5344CB8AC3E}">
        <p14:creationId xmlns:p14="http://schemas.microsoft.com/office/powerpoint/2010/main" val="292771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dirty="0">
                <a:solidFill>
                  <a:prstClr val="black"/>
                </a:solidFill>
                <a:latin typeface="微软雅黑" panose="020B0503020204020204" pitchFamily="34" charset="-122"/>
                <a:ea typeface="微软雅黑" panose="020B0503020204020204" pitchFamily="34" charset="-122"/>
              </a:rPr>
              <a:t>相关研究概述</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lang="en-US" altLang="zh-CN" sz="1800" dirty="0">
                <a:solidFill>
                  <a:prstClr val="black"/>
                </a:solidFill>
                <a:latin typeface="微软雅黑" panose="020B0503020204020204" pitchFamily="34" charset="-122"/>
                <a:ea typeface="微软雅黑" panose="020B0503020204020204" pitchFamily="34" charset="-122"/>
              </a:rPr>
              <a:t>O</a:t>
            </a:r>
            <a:r>
              <a:rPr kumimoji="0" lang="en-US" altLang="zh-CN" sz="18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j-cs"/>
              </a:rPr>
              <a:t>verview</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of Related Research</a:t>
            </a:r>
          </a:p>
        </p:txBody>
      </p:sp>
      <p:sp>
        <p:nvSpPr>
          <p:cNvPr id="4" name="椭圆 3">
            <a:extLst>
              <a:ext uri="{FF2B5EF4-FFF2-40B4-BE49-F238E27FC236}">
                <a16:creationId xmlns:a16="http://schemas.microsoft.com/office/drawing/2014/main" id="{C301294F-5F6F-AFB3-9C8C-2DCE620DB423}"/>
              </a:ext>
            </a:extLst>
          </p:cNvPr>
          <p:cNvSpPr/>
          <p:nvPr/>
        </p:nvSpPr>
        <p:spPr>
          <a:xfrm>
            <a:off x="926782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8" name="椭圆 17">
            <a:extLst>
              <a:ext uri="{FF2B5EF4-FFF2-40B4-BE49-F238E27FC236}">
                <a16:creationId xmlns:a16="http://schemas.microsoft.com/office/drawing/2014/main" id="{F433345E-61F1-DF65-F9BD-192515D68F14}"/>
              </a:ext>
            </a:extLst>
          </p:cNvPr>
          <p:cNvSpPr/>
          <p:nvPr/>
        </p:nvSpPr>
        <p:spPr>
          <a:xfrm>
            <a:off x="9741693"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9" name="椭圆 18">
            <a:extLst>
              <a:ext uri="{FF2B5EF4-FFF2-40B4-BE49-F238E27FC236}">
                <a16:creationId xmlns:a16="http://schemas.microsoft.com/office/drawing/2014/main" id="{20DFF547-4F75-F873-0BA4-306535B2B28B}"/>
              </a:ext>
            </a:extLst>
          </p:cNvPr>
          <p:cNvSpPr/>
          <p:nvPr/>
        </p:nvSpPr>
        <p:spPr>
          <a:xfrm>
            <a:off x="1021556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0" name="椭圆 19">
            <a:extLst>
              <a:ext uri="{FF2B5EF4-FFF2-40B4-BE49-F238E27FC236}">
                <a16:creationId xmlns:a16="http://schemas.microsoft.com/office/drawing/2014/main" id="{6C793397-91AD-FE99-C766-DC95D2C26AC4}"/>
              </a:ext>
            </a:extLst>
          </p:cNvPr>
          <p:cNvSpPr/>
          <p:nvPr/>
        </p:nvSpPr>
        <p:spPr>
          <a:xfrm>
            <a:off x="10689430"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1" name="椭圆 20">
            <a:extLst>
              <a:ext uri="{FF2B5EF4-FFF2-40B4-BE49-F238E27FC236}">
                <a16:creationId xmlns:a16="http://schemas.microsoft.com/office/drawing/2014/main" id="{5475040B-8B00-4C0D-0EAC-FD903905E6AE}"/>
              </a:ext>
            </a:extLst>
          </p:cNvPr>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9" name="矩形: 圆角 1">
            <a:extLst>
              <a:ext uri="{FF2B5EF4-FFF2-40B4-BE49-F238E27FC236}">
                <a16:creationId xmlns:a16="http://schemas.microsoft.com/office/drawing/2014/main" id="{5E9AB7B3-AC61-0A64-5C01-EDCA747E579E}"/>
              </a:ext>
            </a:extLst>
          </p:cNvPr>
          <p:cNvSpPr/>
          <p:nvPr/>
        </p:nvSpPr>
        <p:spPr>
          <a:xfrm>
            <a:off x="676460" y="1932371"/>
            <a:ext cx="3461587" cy="3777589"/>
          </a:xfrm>
          <a:prstGeom prst="roundRect">
            <a:avLst>
              <a:gd name="adj" fmla="val 5121"/>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just">
              <a:spcBef>
                <a:spcPts val="550"/>
              </a:spcBef>
              <a:buFont typeface="Arial" panose="020B0604020202020204" pitchFamily="34" charset="0"/>
              <a:buChar char="•"/>
              <a:defRPr/>
            </a:pP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随着技术进步，无人机（</a:t>
            </a: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UAV</a:t>
            </a:r>
            <a:r>
              <a:rPr kumimoji="0" lang="zh-CN" altLang="e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因其灵活、高效、可覆盖高空区域的优势，已成为建筑立面检测数据采集的核心工具。</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171450" indent="-171450" algn="just">
              <a:spcBef>
                <a:spcPts val="550"/>
              </a:spcBef>
              <a:buFont typeface="Arial" panose="020B0604020202020204" pitchFamily="34" charset="0"/>
              <a:buChar char="•"/>
              <a:defRPr/>
            </a:pP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Freimuth</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和</a:t>
            </a: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König</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系统研究了利用</a:t>
            </a: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UAV</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进行建筑检查的规划与执行流程，奠定了自动化数据采集的基础</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[4]</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171450" indent="-171450" algn="just">
              <a:spcBef>
                <a:spcPts val="550"/>
              </a:spcBef>
              <a:buFont typeface="Arial" panose="020B0604020202020204" pitchFamily="34" charset="0"/>
              <a:buChar char="•"/>
              <a:defRPr/>
            </a:pP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Li</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等人利用无人机红外热像技术，通过集成双重注意力机制的两阶段网络，实现了建筑立面上脱粘缺陷的定量化识别，展现了多模态数据在发现隐蔽问题上的潜力</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[5]</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171450" indent="-171450" algn="just">
              <a:spcBef>
                <a:spcPts val="550"/>
              </a:spcBef>
              <a:buFont typeface="Arial" panose="020B0604020202020204" pitchFamily="34" charset="0"/>
              <a:buChar char="•"/>
              <a:defRPr/>
            </a:pP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Zhang</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等人研究了如何将无人机图像与</a:t>
            </a: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BIM</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模型进行自动化配准，为检测发现的缺陷在三维建筑信息模型中实现精确定位与管理提供了关键技术路径，推动了检测结果从“二维图片”到“三维资产”的升级</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[7]</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algn="just">
              <a:spcBef>
                <a:spcPts val="550"/>
              </a:spcBef>
              <a:defRPr/>
            </a:pPr>
            <a:r>
              <a:rPr kumimoji="0" lang="zh-CN" altLang="en-US"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传统的幕墙评估高度依赖人工现场勘查，其标准化程度低且效率受限。</a:t>
            </a:r>
            <a:endPar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0" name="矩形: 圆角 3">
            <a:extLst>
              <a:ext uri="{FF2B5EF4-FFF2-40B4-BE49-F238E27FC236}">
                <a16:creationId xmlns:a16="http://schemas.microsoft.com/office/drawing/2014/main" id="{1B56CAF2-BD25-8E03-FD85-6D90C1BCDA64}"/>
              </a:ext>
            </a:extLst>
          </p:cNvPr>
          <p:cNvSpPr/>
          <p:nvPr/>
        </p:nvSpPr>
        <p:spPr>
          <a:xfrm>
            <a:off x="673101" y="1284672"/>
            <a:ext cx="3468282" cy="647700"/>
          </a:xfrm>
          <a:prstGeom prst="roundRect">
            <a:avLst>
              <a:gd name="adj" fmla="val 2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defRPr/>
            </a:pPr>
            <a:r>
              <a:rPr kumimoji="0" lang="zh-CN" altLang="en-US" sz="1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建筑幕墙检测与评估的传统方法 </a:t>
            </a:r>
          </a:p>
        </p:txBody>
      </p:sp>
      <p:sp>
        <p:nvSpPr>
          <p:cNvPr id="11" name="文本框 10">
            <a:extLst>
              <a:ext uri="{FF2B5EF4-FFF2-40B4-BE49-F238E27FC236}">
                <a16:creationId xmlns:a16="http://schemas.microsoft.com/office/drawing/2014/main" id="{351A76B6-B4DC-F1DE-C2C0-7251463BD443}"/>
              </a:ext>
            </a:extLst>
          </p:cNvPr>
          <p:cNvSpPr txBox="1"/>
          <p:nvPr/>
        </p:nvSpPr>
        <p:spPr>
          <a:xfrm>
            <a:off x="673101" y="5756531"/>
            <a:ext cx="10852629" cy="787460"/>
          </a:xfrm>
          <a:prstGeom prst="rect">
            <a:avLst/>
          </a:prstGeom>
          <a:noFill/>
        </p:spPr>
        <p:txBody>
          <a:bodyPr wrap="square" anchor="b" anchorCtr="0">
            <a:spAutoFit/>
          </a:bodyPr>
          <a:lstStyle/>
          <a:p>
            <a:pPr algn="just">
              <a:lnSpc>
                <a:spcPct val="150000"/>
              </a:lnSpc>
              <a:defRPr/>
            </a:pPr>
            <a:r>
              <a:rPr lang="zh-CN" altLang="en-US" sz="1600" dirty="0">
                <a:solidFill>
                  <a:srgbClr val="002060"/>
                </a:solidFill>
                <a:latin typeface="微软雅黑" panose="020B0503020204020204" pitchFamily="34" charset="-122"/>
                <a:ea typeface="微软雅黑" panose="020B0503020204020204" pitchFamily="34" charset="-122"/>
              </a:rPr>
              <a:t>毕设拟解决问题</a:t>
            </a:r>
            <a:r>
              <a:rPr kumimoji="0" lang="zh-CN" altLang="en-US" sz="160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：提出并实践将</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模块化的计算机视觉检测能力</a:t>
            </a:r>
            <a:r>
              <a:rPr kumimoji="0" lang="zh-CN" altLang="en-US" sz="160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具备任务编排功能的</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a:t>
            </a:r>
            <a:r>
              <a:rPr kumimoji="0" lang="en"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AI Agent </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架构</a:t>
            </a:r>
            <a:r>
              <a:rPr kumimoji="0" lang="zh-CN" altLang="en-US" sz="160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和</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基于</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a:t>
            </a:r>
            <a:r>
              <a:rPr kumimoji="0" lang="en"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LLM </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的智能推理与报告生成模块</a:t>
            </a:r>
            <a:r>
              <a:rPr kumimoji="0" lang="zh-CN" altLang="en-US" sz="160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三者深度融合，构建一个完整的、面向工程实践的建筑幕墙韧性评估软件系统。</a:t>
            </a:r>
          </a:p>
        </p:txBody>
      </p:sp>
      <p:sp>
        <p:nvSpPr>
          <p:cNvPr id="12" name="矩形: 圆角 23">
            <a:extLst>
              <a:ext uri="{FF2B5EF4-FFF2-40B4-BE49-F238E27FC236}">
                <a16:creationId xmlns:a16="http://schemas.microsoft.com/office/drawing/2014/main" id="{33903D9F-DC89-D60B-C902-AEBE477D01F3}"/>
              </a:ext>
            </a:extLst>
          </p:cNvPr>
          <p:cNvSpPr/>
          <p:nvPr/>
        </p:nvSpPr>
        <p:spPr>
          <a:xfrm>
            <a:off x="8057312" y="1932371"/>
            <a:ext cx="3461587" cy="3777589"/>
          </a:xfrm>
          <a:prstGeom prst="roundRect">
            <a:avLst>
              <a:gd name="adj" fmla="val 5121"/>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just">
              <a:spcBef>
                <a:spcPts val="550"/>
              </a:spcBef>
              <a:buFont typeface="Arial" panose="020B0604020202020204" pitchFamily="34" charset="0"/>
              <a:buChar char="•"/>
              <a:defRPr/>
            </a:pP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Yao</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在其研究中阐述了语言智能体从简单的下一词预测发展为能够执行复杂数字自动化任务的演进过程，这为构建能够调度多个视觉分析工具的</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Agent</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系统提供了理论基础</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[13]</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171450" indent="-171450" algn="just">
              <a:spcBef>
                <a:spcPts val="550"/>
              </a:spcBef>
              <a:buFont typeface="Arial" panose="020B0604020202020204" pitchFamily="34" charset="0"/>
              <a:buChar char="•"/>
              <a:defRPr/>
            </a:pP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在工程系统优化领域，</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Anwar</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和</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Akber</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已经探索了使用多智能体深度强化学习来优化建筑结构的韧性，并考虑了功能性的交互，这证明了多智能体框架在解决复杂工程系统评估与优化问题上的可行性</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[14]</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algn="just">
              <a:spcBef>
                <a:spcPts val="550"/>
              </a:spcBef>
              <a:defRPr/>
            </a:pPr>
            <a:r>
              <a:rPr kumimoji="0" lang="zh-CN" altLang="en-US"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大语言模型（</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LLM</a:t>
            </a:r>
            <a:r>
              <a:rPr kumimoji="0" lang="zh-CN" altLang="en-US"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）展现出惊人的自然语言理解、逻辑推理与文本生成能力。将</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LLM</a:t>
            </a:r>
            <a:r>
              <a:rPr kumimoji="0" lang="zh-CN" altLang="en-US"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作为</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AI Agent</a:t>
            </a:r>
            <a:r>
              <a:rPr kumimoji="0" lang="zh-CN" altLang="en-US"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的“核心决策器”或“报告生成器”，通过提示工程（</a:t>
            </a:r>
            <a:r>
              <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Prompt Engineering</a:t>
            </a:r>
            <a:r>
              <a:rPr kumimoji="0" lang="zh-CN" altLang="en-US"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）嵌入领域知识（如建筑规范、材料力学特性），使其能够整合来自多个计算机视觉模块的检测结果，并进行综合性的风险研判与报告撰写，已成为一个极具前景的研究方向。</a:t>
            </a:r>
            <a:endPar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sp>
        <p:nvSpPr>
          <p:cNvPr id="13" name="矩形: 圆角 25">
            <a:extLst>
              <a:ext uri="{FF2B5EF4-FFF2-40B4-BE49-F238E27FC236}">
                <a16:creationId xmlns:a16="http://schemas.microsoft.com/office/drawing/2014/main" id="{D43EDF9F-BB2D-F9B6-4844-799340FCDE16}"/>
              </a:ext>
            </a:extLst>
          </p:cNvPr>
          <p:cNvSpPr/>
          <p:nvPr/>
        </p:nvSpPr>
        <p:spPr>
          <a:xfrm>
            <a:off x="8057447" y="1284672"/>
            <a:ext cx="3468282" cy="647700"/>
          </a:xfrm>
          <a:prstGeom prst="roundRect">
            <a:avLst>
              <a:gd name="adj" fmla="val 2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defRPr/>
            </a:pPr>
            <a:r>
              <a:rPr kumimoji="0" lang="en" altLang="zh-CN" sz="1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AI Agent</a:t>
            </a:r>
            <a:r>
              <a:rPr kumimoji="0" lang="zh-CN" altLang="en-US" sz="1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与</a:t>
            </a:r>
            <a:r>
              <a:rPr kumimoji="0" lang="en" altLang="zh-CN" sz="1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LLM</a:t>
            </a:r>
          </a:p>
          <a:p>
            <a:pPr algn="ctr" defTabSz="913765">
              <a:defRPr/>
            </a:pPr>
            <a:r>
              <a:rPr kumimoji="0" lang="zh-CN" altLang="en-US" sz="1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在建筑结构韧性分析中的应用 </a:t>
            </a:r>
          </a:p>
        </p:txBody>
      </p:sp>
      <p:sp>
        <p:nvSpPr>
          <p:cNvPr id="38" name="矩形: 圆角 23">
            <a:extLst>
              <a:ext uri="{FF2B5EF4-FFF2-40B4-BE49-F238E27FC236}">
                <a16:creationId xmlns:a16="http://schemas.microsoft.com/office/drawing/2014/main" id="{0E335BA6-6714-7461-05BB-B818E1A4ECAF}"/>
              </a:ext>
            </a:extLst>
          </p:cNvPr>
          <p:cNvSpPr/>
          <p:nvPr/>
        </p:nvSpPr>
        <p:spPr>
          <a:xfrm>
            <a:off x="4361724" y="1933330"/>
            <a:ext cx="3461587" cy="3777589"/>
          </a:xfrm>
          <a:prstGeom prst="roundRect">
            <a:avLst>
              <a:gd name="adj" fmla="val 5121"/>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just" defTabSz="914400" rtl="0" eaLnBrk="1" fontAlgn="auto" latinLnBrk="0" hangingPunct="1">
              <a:lnSpc>
                <a:spcPct val="100000"/>
              </a:lnSpc>
              <a:spcBef>
                <a:spcPts val="550"/>
              </a:spcBef>
              <a:buClrTx/>
              <a:buSzTx/>
              <a:buFont typeface="Arial" panose="020B0604020202020204" pitchFamily="34" charset="0"/>
              <a:buChar char="•"/>
              <a:tabLst/>
              <a:defRPr/>
            </a:pP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Mei</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等人专门研究了复杂真实场景中的玻璃检测问题，其工作对于识别幕墙中的玻璃区域及检测其破损至关重要</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[3]</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00000"/>
              </a:lnSpc>
              <a:spcBef>
                <a:spcPts val="550"/>
              </a:spcBef>
              <a:buClrTx/>
              <a:buSzTx/>
              <a:buFont typeface="Arial" panose="020B0604020202020204" pitchFamily="34" charset="0"/>
              <a:buChar char="•"/>
              <a:tabLst/>
              <a:defRPr/>
            </a:pP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Ye</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等人则利用基于深度学习的全卷积网络进行结构裂缝检测，该方法可迁移应用于幕墙石材或混凝土板材的裂缝识别</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[8, 9]</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00000"/>
              </a:lnSpc>
              <a:spcBef>
                <a:spcPts val="550"/>
              </a:spcBef>
              <a:buClrTx/>
              <a:buSzTx/>
              <a:buFont typeface="Arial" panose="020B0604020202020204" pitchFamily="34" charset="0"/>
              <a:buChar char="•"/>
              <a:tabLst/>
              <a:defRPr/>
            </a:pP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Zuo</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等人对图像预处理算法的研究，以及</a:t>
            </a: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Ding</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等人结合注意力机制与残差</a:t>
            </a:r>
            <a:r>
              <a:rPr kumimoji="0" lang="en" altLang="zh-CN" sz="1200" b="0" i="0" u="none" strike="noStrike" kern="1200" cap="none" spc="0" normalizeH="0" baseline="0" noProof="0" dirty="0" err="1">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UNet</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的图像去噪算法，均为提升复杂背景下幕墙缺陷识别的鲁棒性提供了技术参考</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[11, 12]</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00000"/>
              </a:lnSpc>
              <a:spcBef>
                <a:spcPts val="550"/>
              </a:spcBef>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更通用的深度卷积网络结构，如</a:t>
            </a:r>
            <a:r>
              <a:rPr kumimoji="0" lang="en" altLang="zh-CN" sz="1200" b="0" i="0" u="none" strike="noStrike" kern="1200" cap="none" spc="0" normalizeH="0" baseline="0" noProof="0" dirty="0" err="1">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GoogLeNet</a:t>
            </a:r>
            <a:r>
              <a:rPr kumimoji="0" lang="zh-CN" altLang="e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r>
              <a:rPr kumimoji="0" lang="en"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Inception</a:t>
            </a:r>
            <a:r>
              <a:rPr kumimoji="0" lang="zh-CN" altLang="e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等，也为构建高效的图像分类与特征提取基础模型提供了选择</a:t>
            </a:r>
            <a:r>
              <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[10]</a:t>
            </a:r>
            <a:r>
              <a:rPr kumimoji="0" lang="zh-CN" altLang="en-US"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algn="just">
              <a:spcBef>
                <a:spcPts val="550"/>
              </a:spcBef>
              <a:defRPr/>
            </a:pPr>
            <a:r>
              <a:rPr kumimoji="0" lang="zh-CN" altLang="en-US"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基于深度学习的计算机视觉方法是实现自动化缺陷识别的核心技术。然而，现有研究大多聚焦于单类任务（如只检裂缝或只检玻璃）和单类图像的分析，未能形成一个面向多材质、多缺陷类型的统一处理与评估框架。</a:t>
            </a:r>
            <a:endParaRPr kumimoji="0" lang="en-US" altLang="zh-CN" sz="12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sp>
        <p:nvSpPr>
          <p:cNvPr id="39" name="矩形: 圆角 25">
            <a:extLst>
              <a:ext uri="{FF2B5EF4-FFF2-40B4-BE49-F238E27FC236}">
                <a16:creationId xmlns:a16="http://schemas.microsoft.com/office/drawing/2014/main" id="{DA5B3B62-A2B7-6814-FE29-398DFDFCEE20}"/>
              </a:ext>
            </a:extLst>
          </p:cNvPr>
          <p:cNvSpPr/>
          <p:nvPr/>
        </p:nvSpPr>
        <p:spPr>
          <a:xfrm>
            <a:off x="4361859" y="1285631"/>
            <a:ext cx="3468282" cy="647700"/>
          </a:xfrm>
          <a:prstGeom prst="roundRect">
            <a:avLst>
              <a:gd name="adj" fmla="val 2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defRPr/>
            </a:pPr>
            <a:r>
              <a:rPr kumimoji="0" lang="zh-CN" altLang="en-US" sz="1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基于计算机视觉的</a:t>
            </a:r>
            <a:endParaRPr kumimoji="0" lang="en-US" altLang="zh-CN" sz="1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a:p>
            <a:pPr algn="ctr" defTabSz="913765">
              <a:defRPr/>
            </a:pPr>
            <a:r>
              <a:rPr kumimoji="0" lang="zh-CN" altLang="en-US" sz="1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幕墙缺陷自动识别技术 </a:t>
            </a:r>
          </a:p>
        </p:txBody>
      </p:sp>
    </p:spTree>
    <p:extLst>
      <p:ext uri="{BB962C8B-B14F-4D97-AF65-F5344CB8AC3E}">
        <p14:creationId xmlns:p14="http://schemas.microsoft.com/office/powerpoint/2010/main" val="1255826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43001" y="2644169"/>
            <a:ext cx="2035548"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600" b="1" i="0" u="none" strike="noStrike" kern="1200" cap="none" spc="0" normalizeH="0" baseline="0" noProof="0" dirty="0">
                <a:ln>
                  <a:noFill/>
                </a:ln>
                <a:solidFill>
                  <a:srgbClr val="5B9BD5">
                    <a:lumMod val="75000"/>
                  </a:srgbClr>
                </a:solidFill>
                <a:effectLst/>
                <a:uLnTx/>
                <a:uFillTx/>
                <a:latin typeface="微软雅黑"/>
                <a:ea typeface="微软雅黑"/>
                <a:cs typeface="+mn-cs"/>
              </a:rPr>
              <a:t>03</a:t>
            </a:r>
            <a:endParaRPr kumimoji="0" lang="zh-CN" altLang="en-US" sz="9600" b="1" i="0" u="none" strike="noStrike" kern="1200" cap="none" spc="0" normalizeH="0" baseline="0" noProof="0" dirty="0">
              <a:ln>
                <a:noFill/>
              </a:ln>
              <a:solidFill>
                <a:srgbClr val="5B9BD5">
                  <a:lumMod val="75000"/>
                </a:srgbClr>
              </a:solidFill>
              <a:effectLst/>
              <a:uLnTx/>
              <a:uFillTx/>
              <a:latin typeface="微软雅黑"/>
              <a:ea typeface="微软雅黑"/>
              <a:cs typeface="+mn-cs"/>
            </a:endParaRPr>
          </a:p>
        </p:txBody>
      </p:sp>
      <p:pic>
        <p:nvPicPr>
          <p:cNvPr id="11" name="图片 10"/>
          <p:cNvPicPr>
            <a:picLocks noChangeAspect="1"/>
          </p:cNvPicPr>
          <p:nvPr/>
        </p:nvPicPr>
        <p:blipFill>
          <a:blip r:embed="rId2"/>
          <a:stretch>
            <a:fillRect/>
          </a:stretch>
        </p:blipFill>
        <p:spPr>
          <a:xfrm>
            <a:off x="3178548" y="2127445"/>
            <a:ext cx="2992938" cy="2603109"/>
          </a:xfrm>
          <a:prstGeom prst="rect">
            <a:avLst/>
          </a:prstGeom>
        </p:spPr>
      </p:pic>
      <p:sp>
        <p:nvSpPr>
          <p:cNvPr id="4" name="文本框 3">
            <a:extLst>
              <a:ext uri="{FF2B5EF4-FFF2-40B4-BE49-F238E27FC236}">
                <a16:creationId xmlns:a16="http://schemas.microsoft.com/office/drawing/2014/main" id="{38E0A7E8-E9DE-1B42-34D6-52F464384F95}"/>
              </a:ext>
            </a:extLst>
          </p:cNvPr>
          <p:cNvSpPr txBox="1"/>
          <p:nvPr/>
        </p:nvSpPr>
        <p:spPr>
          <a:xfrm>
            <a:off x="4427527" y="2627722"/>
            <a:ext cx="7764473" cy="141205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prstClr val="black"/>
                </a:solidFill>
                <a:latin typeface="微软雅黑"/>
                <a:ea typeface="微软雅黑"/>
              </a:rPr>
              <a:t>主要内容</a:t>
            </a:r>
            <a:endParaRPr kumimoji="0" lang="zh-CN" altLang="en-US" sz="3600" b="1" i="0" u="none" strike="noStrike" kern="1200" cap="none" spc="0" normalizeH="0" baseline="0" noProof="0" dirty="0">
              <a:ln>
                <a:noFill/>
              </a:ln>
              <a:solidFill>
                <a:prstClr val="black"/>
              </a:solidFill>
              <a:effectLst/>
              <a:uLnTx/>
              <a:uFillTx/>
              <a:latin typeface="微软雅黑"/>
              <a:ea typeface="微软雅黑"/>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2400" b="1" dirty="0">
                <a:solidFill>
                  <a:srgbClr val="002060"/>
                </a:solidFill>
                <a:latin typeface="微软雅黑"/>
                <a:ea typeface="微软雅黑"/>
              </a:rPr>
              <a:t>Main Content</a:t>
            </a:r>
            <a:endPar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endParaRPr>
          </a:p>
        </p:txBody>
      </p:sp>
    </p:spTree>
    <p:extLst>
      <p:ext uri="{BB962C8B-B14F-4D97-AF65-F5344CB8AC3E}">
        <p14:creationId xmlns:p14="http://schemas.microsoft.com/office/powerpoint/2010/main" val="481786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dirty="0">
                <a:solidFill>
                  <a:prstClr val="black"/>
                </a:solidFill>
                <a:latin typeface="微软雅黑" panose="020B0503020204020204" pitchFamily="34" charset="-122"/>
                <a:ea typeface="微软雅黑" panose="020B0503020204020204" pitchFamily="34" charset="-122"/>
              </a:rPr>
              <a:t>主要内容</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lang="en-US" altLang="zh-CN" sz="1800" dirty="0">
                <a:solidFill>
                  <a:prstClr val="black"/>
                </a:solidFill>
                <a:latin typeface="微软雅黑" panose="020B0503020204020204" pitchFamily="34" charset="-122"/>
                <a:ea typeface="微软雅黑" panose="020B0503020204020204" pitchFamily="34" charset="-122"/>
              </a:rPr>
              <a:t>Main Content</a:t>
            </a:r>
            <a:endPar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
        <p:nvSpPr>
          <p:cNvPr id="4" name="椭圆 3">
            <a:extLst>
              <a:ext uri="{FF2B5EF4-FFF2-40B4-BE49-F238E27FC236}">
                <a16:creationId xmlns:a16="http://schemas.microsoft.com/office/drawing/2014/main" id="{617A8AF1-A1E1-5FCC-F54A-906A7F6C77B1}"/>
              </a:ext>
            </a:extLst>
          </p:cNvPr>
          <p:cNvSpPr/>
          <p:nvPr/>
        </p:nvSpPr>
        <p:spPr>
          <a:xfrm>
            <a:off x="926782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7" name="椭圆 6">
            <a:extLst>
              <a:ext uri="{FF2B5EF4-FFF2-40B4-BE49-F238E27FC236}">
                <a16:creationId xmlns:a16="http://schemas.microsoft.com/office/drawing/2014/main" id="{1206C0F1-AD7F-638B-E797-9EAEF9831D4E}"/>
              </a:ext>
            </a:extLst>
          </p:cNvPr>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8" name="椭圆 17">
            <a:extLst>
              <a:ext uri="{FF2B5EF4-FFF2-40B4-BE49-F238E27FC236}">
                <a16:creationId xmlns:a16="http://schemas.microsoft.com/office/drawing/2014/main" id="{B423FAE2-13D0-489E-09F2-C174091BF2C8}"/>
              </a:ext>
            </a:extLst>
          </p:cNvPr>
          <p:cNvSpPr/>
          <p:nvPr/>
        </p:nvSpPr>
        <p:spPr>
          <a:xfrm>
            <a:off x="10215561"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4" name="椭圆 23">
            <a:extLst>
              <a:ext uri="{FF2B5EF4-FFF2-40B4-BE49-F238E27FC236}">
                <a16:creationId xmlns:a16="http://schemas.microsoft.com/office/drawing/2014/main" id="{3C8BC748-704C-3975-E06F-203325DA097F}"/>
              </a:ext>
            </a:extLst>
          </p:cNvPr>
          <p:cNvSpPr/>
          <p:nvPr/>
        </p:nvSpPr>
        <p:spPr>
          <a:xfrm>
            <a:off x="10689430"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25" name="椭圆 24">
            <a:extLst>
              <a:ext uri="{FF2B5EF4-FFF2-40B4-BE49-F238E27FC236}">
                <a16:creationId xmlns:a16="http://schemas.microsoft.com/office/drawing/2014/main" id="{64991362-BC66-0750-903A-F2E12C374665}"/>
              </a:ext>
            </a:extLst>
          </p:cNvPr>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37" name="Title-1">
            <a:extLst>
              <a:ext uri="{FF2B5EF4-FFF2-40B4-BE49-F238E27FC236}">
                <a16:creationId xmlns:a16="http://schemas.microsoft.com/office/drawing/2014/main" id="{A441AAB4-E48A-04CD-92A6-BF0362305C58}"/>
              </a:ext>
            </a:extLst>
          </p:cNvPr>
          <p:cNvSpPr/>
          <p:nvPr>
            <p:custDataLst>
              <p:tags r:id="rId2"/>
            </p:custDataLst>
          </p:nvPr>
        </p:nvSpPr>
        <p:spPr>
          <a:xfrm>
            <a:off x="666749" y="1683233"/>
            <a:ext cx="10858499" cy="647700"/>
          </a:xfrm>
          <a:prstGeom prst="roundRect">
            <a:avLst/>
          </a:prstGeom>
          <a:solidFill>
            <a:schemeClr val="tx2">
              <a:alpha val="15000"/>
            </a:schemeClr>
          </a:solidFill>
          <a:ln w="12700" cap="flat">
            <a:noFill/>
            <a:miter lim="400000"/>
          </a:ln>
          <a:effectLst/>
        </p:spPr>
        <p:txBody>
          <a:bodyPr wrap="square" lIns="0" tIns="0" rIns="0" bIns="0" numCol="1" anchor="ctr">
            <a:noAutofit/>
          </a:bodyPr>
          <a:lstStyle/>
          <a:p>
            <a:pPr marL="108000" defTabSz="913765">
              <a:defRPr/>
            </a:pP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构建高质量建筑幕墙工程数据集，并针对高分辨率幕墙图像的处理需求，重点研究并设计一个稳定、高效的底层软件框架。核心工作包括：对比分析基于任务队列、线程池及异步并发等不同架构方案（如单体多线程与微服务编排），并从性能、经济性及工程可行性等维度评估其优劣；最终实现一个能对图像预处理、模型推理等任务进行统一调度与管理的系统，确保高吞吐量与资源最优利用。</a:t>
            </a:r>
          </a:p>
        </p:txBody>
      </p:sp>
      <p:sp>
        <p:nvSpPr>
          <p:cNvPr id="38" name="矩形: 圆角 25">
            <a:extLst>
              <a:ext uri="{FF2B5EF4-FFF2-40B4-BE49-F238E27FC236}">
                <a16:creationId xmlns:a16="http://schemas.microsoft.com/office/drawing/2014/main" id="{2B59E497-4F0A-D647-5D2F-F350E141766B}"/>
              </a:ext>
            </a:extLst>
          </p:cNvPr>
          <p:cNvSpPr/>
          <p:nvPr/>
        </p:nvSpPr>
        <p:spPr>
          <a:xfrm>
            <a:off x="673101" y="1288026"/>
            <a:ext cx="4453081" cy="392802"/>
          </a:xfrm>
          <a:prstGeom prst="roundRect">
            <a:avLst>
              <a:gd name="adj" fmla="val 2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3765">
              <a:defRPr/>
            </a:pPr>
            <a:r>
              <a:rPr kumimoji="0" lang="en-US" altLang="zh-CN"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01 </a:t>
            </a:r>
            <a:r>
              <a:rPr kumimoji="0" lang="zh-CN" altLang="en-US"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工程数据集的收集和软件架构分析与设计</a:t>
            </a:r>
          </a:p>
        </p:txBody>
      </p:sp>
      <p:sp>
        <p:nvSpPr>
          <p:cNvPr id="39" name="Title-1">
            <a:extLst>
              <a:ext uri="{FF2B5EF4-FFF2-40B4-BE49-F238E27FC236}">
                <a16:creationId xmlns:a16="http://schemas.microsoft.com/office/drawing/2014/main" id="{9FF6F05F-1604-96DE-DDD2-2B1963770C42}"/>
              </a:ext>
            </a:extLst>
          </p:cNvPr>
          <p:cNvSpPr/>
          <p:nvPr>
            <p:custDataLst>
              <p:tags r:id="rId3"/>
            </p:custDataLst>
          </p:nvPr>
        </p:nvSpPr>
        <p:spPr>
          <a:xfrm>
            <a:off x="666749" y="2887296"/>
            <a:ext cx="10858499" cy="456583"/>
          </a:xfrm>
          <a:prstGeom prst="roundRect">
            <a:avLst/>
          </a:prstGeom>
          <a:solidFill>
            <a:schemeClr val="tx2">
              <a:alpha val="15000"/>
            </a:schemeClr>
          </a:solidFill>
          <a:ln w="12700" cap="flat">
            <a:noFill/>
            <a:miter lim="400000"/>
          </a:ln>
          <a:effectLst/>
        </p:spPr>
        <p:txBody>
          <a:bodyPr wrap="square" lIns="0" tIns="0" rIns="0" bIns="0" numCol="1" anchor="ctr">
            <a:noAutofit/>
          </a:bodyPr>
          <a:lstStyle/>
          <a:p>
            <a:pPr marL="108000" defTabSz="913765">
              <a:defRPr/>
            </a:pP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构建一个基于深度学习的幕墙图像分类模型。工作涵盖：收集与整理涵盖玻璃、金属、石材等主要材质及构件的图像数据；进行数据清洗、标注与增强；选择并训练合适的卷积神经网络（如</a:t>
            </a:r>
            <a:r>
              <a:rPr kumimoji="0" lang="en" altLang="zh-CN" sz="1200" i="0" u="none" strike="noStrike" kern="1200" cap="none" spc="0" normalizeH="0" baseline="0" noProof="0" dirty="0" err="1">
                <a:ln>
                  <a:noFill/>
                </a:ln>
                <a:solidFill>
                  <a:prstClr val="black"/>
                </a:solidFill>
                <a:effectLst/>
                <a:uLnTx/>
                <a:uFillTx/>
                <a:latin typeface="微软雅黑"/>
                <a:ea typeface="微软雅黑"/>
                <a:cs typeface="+mn-cs"/>
              </a:rPr>
              <a:t>ResNet</a:t>
            </a:r>
            <a:r>
              <a:rPr kumimoji="0" lang="zh-CN" altLang="en" sz="1200" i="0" u="none" strike="noStrike" kern="1200" cap="none" spc="0" normalizeH="0" baseline="0" noProof="0" dirty="0">
                <a:ln>
                  <a:noFill/>
                </a:ln>
                <a:solidFill>
                  <a:prstClr val="black"/>
                </a:solidFill>
                <a:effectLst/>
                <a:uLnTx/>
                <a:uFillTx/>
                <a:latin typeface="微软雅黑"/>
                <a:ea typeface="微软雅黑"/>
                <a:cs typeface="+mn-cs"/>
              </a:rPr>
              <a:t>、</a:t>
            </a:r>
            <a:r>
              <a:rPr kumimoji="0" lang="en" altLang="zh-CN" sz="1200" i="0" u="none" strike="noStrike" kern="1200" cap="none" spc="0" normalizeH="0" baseline="0" noProof="0" dirty="0" err="1">
                <a:ln>
                  <a:noFill/>
                </a:ln>
                <a:solidFill>
                  <a:prstClr val="black"/>
                </a:solidFill>
                <a:effectLst/>
                <a:uLnTx/>
                <a:uFillTx/>
                <a:latin typeface="微软雅黑"/>
                <a:ea typeface="微软雅黑"/>
                <a:cs typeface="+mn-cs"/>
              </a:rPr>
              <a:t>EfficientNet</a:t>
            </a: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等）模型，实现高精度、鲁棒的材质自动识别。</a:t>
            </a:r>
          </a:p>
        </p:txBody>
      </p:sp>
      <p:sp>
        <p:nvSpPr>
          <p:cNvPr id="40" name="矩形: 圆角 26">
            <a:extLst>
              <a:ext uri="{FF2B5EF4-FFF2-40B4-BE49-F238E27FC236}">
                <a16:creationId xmlns:a16="http://schemas.microsoft.com/office/drawing/2014/main" id="{74A5D129-C861-75D3-E975-5AC971CB510F}"/>
              </a:ext>
            </a:extLst>
          </p:cNvPr>
          <p:cNvSpPr/>
          <p:nvPr/>
        </p:nvSpPr>
        <p:spPr>
          <a:xfrm>
            <a:off x="673101" y="2492089"/>
            <a:ext cx="4453081" cy="392802"/>
          </a:xfrm>
          <a:prstGeom prst="roundRect">
            <a:avLst>
              <a:gd name="adj" fmla="val 2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3765">
              <a:defRPr/>
            </a:pPr>
            <a:r>
              <a:rPr kumimoji="0" lang="en-US" altLang="zh-CN"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02 </a:t>
            </a:r>
            <a:r>
              <a:rPr kumimoji="0" lang="zh-CN" altLang="en-US"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幕墙多材质智能分类模型设计</a:t>
            </a:r>
          </a:p>
        </p:txBody>
      </p:sp>
      <p:sp>
        <p:nvSpPr>
          <p:cNvPr id="41" name="Title-1">
            <a:extLst>
              <a:ext uri="{FF2B5EF4-FFF2-40B4-BE49-F238E27FC236}">
                <a16:creationId xmlns:a16="http://schemas.microsoft.com/office/drawing/2014/main" id="{7DF59322-1294-40D0-1CFB-727F82B6E990}"/>
              </a:ext>
            </a:extLst>
          </p:cNvPr>
          <p:cNvSpPr/>
          <p:nvPr>
            <p:custDataLst>
              <p:tags r:id="rId4"/>
            </p:custDataLst>
          </p:nvPr>
        </p:nvSpPr>
        <p:spPr>
          <a:xfrm>
            <a:off x="666749" y="3900522"/>
            <a:ext cx="10858499" cy="456583"/>
          </a:xfrm>
          <a:prstGeom prst="roundRect">
            <a:avLst/>
          </a:prstGeom>
          <a:solidFill>
            <a:schemeClr val="tx2">
              <a:alpha val="15000"/>
            </a:schemeClr>
          </a:solidFill>
          <a:ln w="12700" cap="flat">
            <a:noFill/>
            <a:miter lim="400000"/>
          </a:ln>
          <a:effectLst/>
        </p:spPr>
        <p:txBody>
          <a:bodyPr wrap="square" lIns="0" tIns="0" rIns="0" bIns="0" numCol="1" anchor="ctr">
            <a:noAutofit/>
          </a:bodyPr>
          <a:lstStyle/>
          <a:p>
            <a:pPr marL="108000" defTabSz="913765">
              <a:defRPr/>
            </a:pP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针对不同幕墙材质，设计并实现专项视觉检测算法，以量化韧性指标。具体包括：根据跨学科（土木、材料、计算机）约束，设计或集成针对性算法，例如对玻璃区域进行平整度与破损检测，对金属区域进行锈蚀与变形检测，对石材区域进行裂缝检测等。</a:t>
            </a:r>
          </a:p>
        </p:txBody>
      </p:sp>
      <p:sp>
        <p:nvSpPr>
          <p:cNvPr id="42" name="矩形: 圆角 27">
            <a:extLst>
              <a:ext uri="{FF2B5EF4-FFF2-40B4-BE49-F238E27FC236}">
                <a16:creationId xmlns:a16="http://schemas.microsoft.com/office/drawing/2014/main" id="{831CD69B-F66B-CE2A-CB4E-2CA30F166DD1}"/>
              </a:ext>
            </a:extLst>
          </p:cNvPr>
          <p:cNvSpPr/>
          <p:nvPr/>
        </p:nvSpPr>
        <p:spPr>
          <a:xfrm>
            <a:off x="673101" y="3507440"/>
            <a:ext cx="4453081" cy="392802"/>
          </a:xfrm>
          <a:prstGeom prst="roundRect">
            <a:avLst>
              <a:gd name="adj" fmla="val 2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3765">
              <a:defRPr/>
            </a:pPr>
            <a:r>
              <a:rPr kumimoji="0" lang="en-US" altLang="zh-CN"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03 </a:t>
            </a:r>
            <a:r>
              <a:rPr kumimoji="0" lang="zh-CN" altLang="en-US"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幕墙韧性评估算法设计</a:t>
            </a:r>
          </a:p>
        </p:txBody>
      </p:sp>
      <p:sp>
        <p:nvSpPr>
          <p:cNvPr id="43" name="Title-1">
            <a:extLst>
              <a:ext uri="{FF2B5EF4-FFF2-40B4-BE49-F238E27FC236}">
                <a16:creationId xmlns:a16="http://schemas.microsoft.com/office/drawing/2014/main" id="{A8D0B3A7-8C11-99FC-983E-FE88A3D48AB3}"/>
              </a:ext>
            </a:extLst>
          </p:cNvPr>
          <p:cNvSpPr/>
          <p:nvPr>
            <p:custDataLst>
              <p:tags r:id="rId5"/>
            </p:custDataLst>
          </p:nvPr>
        </p:nvSpPr>
        <p:spPr>
          <a:xfrm>
            <a:off x="666749" y="4914028"/>
            <a:ext cx="10858499" cy="647700"/>
          </a:xfrm>
          <a:prstGeom prst="roundRect">
            <a:avLst/>
          </a:prstGeom>
          <a:solidFill>
            <a:schemeClr val="tx2">
              <a:alpha val="15000"/>
            </a:schemeClr>
          </a:solidFill>
          <a:ln w="12700" cap="flat">
            <a:noFill/>
            <a:miter lim="400000"/>
          </a:ln>
          <a:effectLst/>
        </p:spPr>
        <p:txBody>
          <a:bodyPr wrap="square" lIns="0" tIns="0" rIns="0" bIns="0" numCol="1" anchor="ctr">
            <a:noAutofit/>
          </a:bodyPr>
          <a:lstStyle/>
          <a:p>
            <a:pPr marL="108000" defTabSz="913765">
              <a:defRPr/>
            </a:pP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构建</a:t>
            </a:r>
            <a:r>
              <a:rPr kumimoji="0" lang="en" altLang="zh-CN" sz="1200" i="0" u="none" strike="noStrike" kern="1200" cap="none" spc="0" normalizeH="0" baseline="0" noProof="0" dirty="0">
                <a:ln>
                  <a:noFill/>
                </a:ln>
                <a:solidFill>
                  <a:prstClr val="black"/>
                </a:solidFill>
                <a:effectLst/>
                <a:uLnTx/>
                <a:uFillTx/>
                <a:latin typeface="微软雅黑"/>
                <a:ea typeface="微软雅黑"/>
                <a:cs typeface="+mn-cs"/>
              </a:rPr>
              <a:t>AI Agent</a:t>
            </a: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的核心决策逻辑，使其能自动调度分类与各专项检测模块，并融合多源局部检测结果。结合大型语言模型（</a:t>
            </a:r>
            <a:r>
              <a:rPr kumimoji="0" lang="en" altLang="zh-CN" sz="1200" i="0" u="none" strike="noStrike" kern="1200" cap="none" spc="0" normalizeH="0" baseline="0" noProof="0" dirty="0">
                <a:ln>
                  <a:noFill/>
                </a:ln>
                <a:solidFill>
                  <a:prstClr val="black"/>
                </a:solidFill>
                <a:effectLst/>
                <a:uLnTx/>
                <a:uFillTx/>
                <a:latin typeface="微软雅黑"/>
                <a:ea typeface="微软雅黑"/>
                <a:cs typeface="+mn-cs"/>
              </a:rPr>
              <a:t>LLM</a:t>
            </a:r>
            <a:r>
              <a:rPr kumimoji="0" lang="zh-CN" altLang="en" sz="1200" i="0" u="none" strike="noStrike" kern="1200" cap="none" spc="0" normalizeH="0" baseline="0" noProof="0" dirty="0">
                <a:ln>
                  <a:noFill/>
                </a:ln>
                <a:solidFill>
                  <a:prstClr val="black"/>
                </a:solidFill>
                <a:effectLst/>
                <a:uLnTx/>
                <a:uFillTx/>
                <a:latin typeface="微软雅黑"/>
                <a:ea typeface="微软雅黑"/>
                <a:cs typeface="+mn-cs"/>
              </a:rPr>
              <a:t>）</a:t>
            </a: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技术，通过提示工程（</a:t>
            </a:r>
            <a:r>
              <a:rPr kumimoji="0" lang="en" altLang="zh-CN" sz="1200" i="0" u="none" strike="noStrike" kern="1200" cap="none" spc="0" normalizeH="0" baseline="0" noProof="0" dirty="0">
                <a:ln>
                  <a:noFill/>
                </a:ln>
                <a:solidFill>
                  <a:prstClr val="black"/>
                </a:solidFill>
                <a:effectLst/>
                <a:uLnTx/>
                <a:uFillTx/>
                <a:latin typeface="微软雅黑"/>
                <a:ea typeface="微软雅黑"/>
                <a:cs typeface="+mn-cs"/>
              </a:rPr>
              <a:t>Prompt Engineering</a:t>
            </a:r>
            <a:r>
              <a:rPr kumimoji="0" lang="zh-CN" altLang="en" sz="1200" i="0" u="none" strike="noStrike" kern="1200" cap="none" spc="0" normalizeH="0" baseline="0" noProof="0" dirty="0">
                <a:ln>
                  <a:noFill/>
                </a:ln>
                <a:solidFill>
                  <a:prstClr val="black"/>
                </a:solidFill>
                <a:effectLst/>
                <a:uLnTx/>
                <a:uFillTx/>
                <a:latin typeface="微软雅黑"/>
                <a:ea typeface="微软雅黑"/>
                <a:cs typeface="+mn-cs"/>
              </a:rPr>
              <a:t>）</a:t>
            </a: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与相关知识嵌入，使系统能理解幕墙系统的整体性，综合评估各类损伤对整体韧性的影响，并自动化生成结构化的专业评估报告。设计实验，验证</a:t>
            </a:r>
            <a:r>
              <a:rPr kumimoji="0" lang="en" altLang="zh-CN" sz="1200" i="0" u="none" strike="noStrike" kern="1200" cap="none" spc="0" normalizeH="0" baseline="0" noProof="0" dirty="0">
                <a:ln>
                  <a:noFill/>
                </a:ln>
                <a:solidFill>
                  <a:prstClr val="black"/>
                </a:solidFill>
                <a:effectLst/>
                <a:uLnTx/>
                <a:uFillTx/>
                <a:latin typeface="微软雅黑"/>
                <a:ea typeface="微软雅黑"/>
                <a:cs typeface="+mn-cs"/>
              </a:rPr>
              <a:t>AI Agent</a:t>
            </a: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决策与报告生成的准确率。</a:t>
            </a:r>
          </a:p>
        </p:txBody>
      </p:sp>
      <p:sp>
        <p:nvSpPr>
          <p:cNvPr id="44" name="矩形: 圆角 27">
            <a:extLst>
              <a:ext uri="{FF2B5EF4-FFF2-40B4-BE49-F238E27FC236}">
                <a16:creationId xmlns:a16="http://schemas.microsoft.com/office/drawing/2014/main" id="{25BC4F04-1548-6671-25EC-07063D364A2E}"/>
              </a:ext>
            </a:extLst>
          </p:cNvPr>
          <p:cNvSpPr/>
          <p:nvPr/>
        </p:nvSpPr>
        <p:spPr>
          <a:xfrm>
            <a:off x="673101" y="4520946"/>
            <a:ext cx="4453081" cy="392802"/>
          </a:xfrm>
          <a:prstGeom prst="roundRect">
            <a:avLst>
              <a:gd name="adj" fmla="val 2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3765">
              <a:defRPr/>
            </a:pPr>
            <a:r>
              <a:rPr kumimoji="0" lang="en-US" altLang="zh-CN"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04 </a:t>
            </a:r>
            <a:r>
              <a:rPr kumimoji="0" lang="en" altLang="zh-CN"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AI Agent </a:t>
            </a:r>
            <a:r>
              <a:rPr kumimoji="0" lang="zh-CN" altLang="en-US"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设计与韧性评估报告生成</a:t>
            </a:r>
          </a:p>
        </p:txBody>
      </p:sp>
      <p:sp>
        <p:nvSpPr>
          <p:cNvPr id="45" name="Title-1">
            <a:extLst>
              <a:ext uri="{FF2B5EF4-FFF2-40B4-BE49-F238E27FC236}">
                <a16:creationId xmlns:a16="http://schemas.microsoft.com/office/drawing/2014/main" id="{82278B40-91E1-DCD3-7C35-D51209C064D9}"/>
              </a:ext>
            </a:extLst>
          </p:cNvPr>
          <p:cNvSpPr/>
          <p:nvPr>
            <p:custDataLst>
              <p:tags r:id="rId6"/>
            </p:custDataLst>
          </p:nvPr>
        </p:nvSpPr>
        <p:spPr>
          <a:xfrm>
            <a:off x="666749" y="6111050"/>
            <a:ext cx="10858499" cy="456583"/>
          </a:xfrm>
          <a:prstGeom prst="roundRect">
            <a:avLst/>
          </a:prstGeom>
          <a:solidFill>
            <a:schemeClr val="tx2">
              <a:alpha val="15000"/>
            </a:schemeClr>
          </a:solidFill>
          <a:ln w="12700" cap="flat">
            <a:noFill/>
            <a:miter lim="400000"/>
          </a:ln>
          <a:effectLst/>
        </p:spPr>
        <p:txBody>
          <a:bodyPr wrap="square" lIns="0" tIns="0" rIns="0" bIns="0" numCol="1" anchor="ctr">
            <a:noAutofit/>
          </a:bodyPr>
          <a:lstStyle/>
          <a:p>
            <a:pPr marL="108000" defTabSz="913765">
              <a:defRPr/>
            </a:pP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集成上述所有模块，完成一个完整的软件系统原型。工作包括：采用模块化或微服务等合适架构进行系统集成；开发图形用户界面（</a:t>
            </a:r>
            <a:r>
              <a:rPr kumimoji="0" lang="en" altLang="zh-CN" sz="1200" i="0" u="none" strike="noStrike" kern="1200" cap="none" spc="0" normalizeH="0" baseline="0" noProof="0" dirty="0">
                <a:ln>
                  <a:noFill/>
                </a:ln>
                <a:solidFill>
                  <a:prstClr val="black"/>
                </a:solidFill>
                <a:effectLst/>
                <a:uLnTx/>
                <a:uFillTx/>
                <a:latin typeface="微软雅黑"/>
                <a:ea typeface="微软雅黑"/>
                <a:cs typeface="+mn-cs"/>
              </a:rPr>
              <a:t>GUI</a:t>
            </a:r>
            <a:r>
              <a:rPr kumimoji="0" lang="zh-CN" altLang="en" sz="1200" i="0" u="none" strike="noStrike" kern="1200" cap="none" spc="0" normalizeH="0" baseline="0" noProof="0" dirty="0">
                <a:ln>
                  <a:noFill/>
                </a:ln>
                <a:solidFill>
                  <a:prstClr val="black"/>
                </a:solidFill>
                <a:effectLst/>
                <a:uLnTx/>
                <a:uFillTx/>
                <a:latin typeface="微软雅黑"/>
                <a:ea typeface="微软雅黑"/>
                <a:cs typeface="+mn-cs"/>
              </a:rPr>
              <a:t>），</a:t>
            </a:r>
            <a:r>
              <a:rPr kumimoji="0" lang="zh-CN" altLang="en-US" sz="1200" i="0" u="none" strike="noStrike" kern="1200" cap="none" spc="0" normalizeH="0" baseline="0" noProof="0" dirty="0">
                <a:ln>
                  <a:noFill/>
                </a:ln>
                <a:solidFill>
                  <a:prstClr val="black"/>
                </a:solidFill>
                <a:effectLst/>
                <a:uLnTx/>
                <a:uFillTx/>
                <a:latin typeface="微软雅黑"/>
                <a:ea typeface="微软雅黑"/>
                <a:cs typeface="+mn-cs"/>
              </a:rPr>
              <a:t>实现图像上传、流程控制、进度展示、结果可视化与报告导出等端到端功能；并对系统进行整体测试、优化与部署。</a:t>
            </a:r>
          </a:p>
        </p:txBody>
      </p:sp>
      <p:sp>
        <p:nvSpPr>
          <p:cNvPr id="46" name="矩形: 圆角 27">
            <a:extLst>
              <a:ext uri="{FF2B5EF4-FFF2-40B4-BE49-F238E27FC236}">
                <a16:creationId xmlns:a16="http://schemas.microsoft.com/office/drawing/2014/main" id="{60DF0C58-FDAE-7617-2CF4-6D182B595E5E}"/>
              </a:ext>
            </a:extLst>
          </p:cNvPr>
          <p:cNvSpPr/>
          <p:nvPr/>
        </p:nvSpPr>
        <p:spPr>
          <a:xfrm>
            <a:off x="673101" y="5717968"/>
            <a:ext cx="4453081" cy="392802"/>
          </a:xfrm>
          <a:prstGeom prst="roundRect">
            <a:avLst>
              <a:gd name="adj" fmla="val 2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3765">
              <a:defRPr/>
            </a:pPr>
            <a:r>
              <a:rPr kumimoji="0" lang="en-US" altLang="zh-CN"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05 </a:t>
            </a:r>
            <a:r>
              <a:rPr kumimoji="0" lang="zh-CN" altLang="en-US" sz="1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端到端软件系统集成与工程软件原型实现</a:t>
            </a:r>
          </a:p>
        </p:txBody>
      </p:sp>
    </p:spTree>
    <p:extLst>
      <p:ext uri="{BB962C8B-B14F-4D97-AF65-F5344CB8AC3E}">
        <p14:creationId xmlns:p14="http://schemas.microsoft.com/office/powerpoint/2010/main" val="1775470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43001" y="2644169"/>
            <a:ext cx="2035548"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600" b="1" i="0" u="none" strike="noStrike" kern="1200" cap="none" spc="0" normalizeH="0" baseline="0" noProof="0" dirty="0">
                <a:ln>
                  <a:noFill/>
                </a:ln>
                <a:solidFill>
                  <a:srgbClr val="5B9BD5">
                    <a:lumMod val="75000"/>
                  </a:srgbClr>
                </a:solidFill>
                <a:effectLst/>
                <a:uLnTx/>
                <a:uFillTx/>
                <a:latin typeface="微软雅黑"/>
                <a:ea typeface="微软雅黑"/>
                <a:cs typeface="+mn-cs"/>
              </a:rPr>
              <a:t>04</a:t>
            </a:r>
            <a:endParaRPr kumimoji="0" lang="zh-CN" altLang="en-US" sz="9600" b="1" i="0" u="none" strike="noStrike" kern="1200" cap="none" spc="0" normalizeH="0" baseline="0" noProof="0" dirty="0">
              <a:ln>
                <a:noFill/>
              </a:ln>
              <a:solidFill>
                <a:srgbClr val="5B9BD5">
                  <a:lumMod val="75000"/>
                </a:srgbClr>
              </a:solidFill>
              <a:effectLst/>
              <a:uLnTx/>
              <a:uFillTx/>
              <a:latin typeface="微软雅黑"/>
              <a:ea typeface="微软雅黑"/>
              <a:cs typeface="+mn-cs"/>
            </a:endParaRPr>
          </a:p>
        </p:txBody>
      </p:sp>
      <p:pic>
        <p:nvPicPr>
          <p:cNvPr id="11" name="图片 10"/>
          <p:cNvPicPr>
            <a:picLocks noChangeAspect="1"/>
          </p:cNvPicPr>
          <p:nvPr/>
        </p:nvPicPr>
        <p:blipFill>
          <a:blip r:embed="rId2"/>
          <a:stretch>
            <a:fillRect/>
          </a:stretch>
        </p:blipFill>
        <p:spPr>
          <a:xfrm>
            <a:off x="3178548" y="2127445"/>
            <a:ext cx="2992938" cy="2603109"/>
          </a:xfrm>
          <a:prstGeom prst="rect">
            <a:avLst/>
          </a:prstGeom>
        </p:spPr>
      </p:pic>
      <p:sp>
        <p:nvSpPr>
          <p:cNvPr id="4" name="文本框 3">
            <a:extLst>
              <a:ext uri="{FF2B5EF4-FFF2-40B4-BE49-F238E27FC236}">
                <a16:creationId xmlns:a16="http://schemas.microsoft.com/office/drawing/2014/main" id="{38E0A7E8-E9DE-1B42-34D6-52F464384F95}"/>
              </a:ext>
            </a:extLst>
          </p:cNvPr>
          <p:cNvSpPr txBox="1"/>
          <p:nvPr/>
        </p:nvSpPr>
        <p:spPr>
          <a:xfrm>
            <a:off x="4427527" y="2627722"/>
            <a:ext cx="7764473" cy="141205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微软雅黑"/>
                <a:ea typeface="微软雅黑"/>
                <a:cs typeface="+mn-cs"/>
              </a:rPr>
              <a:t>进度安排</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Progress Plan</a:t>
            </a:r>
          </a:p>
        </p:txBody>
      </p:sp>
    </p:spTree>
    <p:extLst>
      <p:ext uri="{BB962C8B-B14F-4D97-AF65-F5344CB8AC3E}">
        <p14:creationId xmlns:p14="http://schemas.microsoft.com/office/powerpoint/2010/main" val="972072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lvl="0">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进度安排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lang="en-US" altLang="zh-CN" sz="1800" dirty="0"/>
              <a:t>Progress</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Plan</a:t>
            </a:r>
          </a:p>
        </p:txBody>
      </p:sp>
      <p:sp>
        <p:nvSpPr>
          <p:cNvPr id="9" name="椭圆 8">
            <a:extLst>
              <a:ext uri="{FF2B5EF4-FFF2-40B4-BE49-F238E27FC236}">
                <a16:creationId xmlns:a16="http://schemas.microsoft.com/office/drawing/2014/main" id="{6E53D553-D14A-9510-29DC-0BD871A344F7}"/>
              </a:ext>
            </a:extLst>
          </p:cNvPr>
          <p:cNvSpPr/>
          <p:nvPr/>
        </p:nvSpPr>
        <p:spPr>
          <a:xfrm>
            <a:off x="926782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0" name="椭圆 9">
            <a:extLst>
              <a:ext uri="{FF2B5EF4-FFF2-40B4-BE49-F238E27FC236}">
                <a16:creationId xmlns:a16="http://schemas.microsoft.com/office/drawing/2014/main" id="{2877A471-42AB-DC68-B092-54364D1165E9}"/>
              </a:ext>
            </a:extLst>
          </p:cNvPr>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1" name="椭圆 10">
            <a:extLst>
              <a:ext uri="{FF2B5EF4-FFF2-40B4-BE49-F238E27FC236}">
                <a16:creationId xmlns:a16="http://schemas.microsoft.com/office/drawing/2014/main" id="{7E09F7AF-EEF0-EBEE-ED1E-474E69E23ED3}"/>
              </a:ext>
            </a:extLst>
          </p:cNvPr>
          <p:cNvSpPr/>
          <p:nvPr/>
        </p:nvSpPr>
        <p:spPr>
          <a:xfrm>
            <a:off x="1021556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2" name="椭圆 11">
            <a:extLst>
              <a:ext uri="{FF2B5EF4-FFF2-40B4-BE49-F238E27FC236}">
                <a16:creationId xmlns:a16="http://schemas.microsoft.com/office/drawing/2014/main" id="{36115579-D11C-A2B3-C96B-4185E4804396}"/>
              </a:ext>
            </a:extLst>
          </p:cNvPr>
          <p:cNvSpPr/>
          <p:nvPr/>
        </p:nvSpPr>
        <p:spPr>
          <a:xfrm>
            <a:off x="10689430"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3" name="椭圆 12">
            <a:extLst>
              <a:ext uri="{FF2B5EF4-FFF2-40B4-BE49-F238E27FC236}">
                <a16:creationId xmlns:a16="http://schemas.microsoft.com/office/drawing/2014/main" id="{06ADDE0A-B9B2-A40E-B2FA-977756B309AC}"/>
              </a:ext>
            </a:extLst>
          </p:cNvPr>
          <p:cNvSpPr/>
          <p:nvPr/>
        </p:nvSpPr>
        <p:spPr>
          <a:xfrm>
            <a:off x="11163299"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6" name="矩形 5">
            <a:extLst>
              <a:ext uri="{FF2B5EF4-FFF2-40B4-BE49-F238E27FC236}">
                <a16:creationId xmlns:a16="http://schemas.microsoft.com/office/drawing/2014/main" id="{8AE37D1E-F84A-05D1-158B-0A3A2856F75D}"/>
              </a:ext>
            </a:extLst>
          </p:cNvPr>
          <p:cNvSpPr/>
          <p:nvPr/>
        </p:nvSpPr>
        <p:spPr>
          <a:xfrm>
            <a:off x="-28281" y="1540010"/>
            <a:ext cx="3988233" cy="2047548"/>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lang="zh-CN" altLang="en-US" sz="2000" b="1" dirty="0">
                <a:solidFill>
                  <a:srgbClr val="002060"/>
                </a:solidFill>
                <a:latin typeface="微软雅黑" panose="020B0503020204020204" pitchFamily="34" charset="-122"/>
                <a:ea typeface="微软雅黑" panose="020B0503020204020204" pitchFamily="34" charset="-122"/>
              </a:rPr>
              <a:t>调研与需求分析</a:t>
            </a:r>
            <a:endParaRPr kumimoji="0"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algn="r">
              <a:lnSpc>
                <a:spcPct val="150000"/>
              </a:lnSpc>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构建异构材质工程数据集</a:t>
            </a:r>
          </a:p>
          <a:p>
            <a:pPr algn="r">
              <a:lnSpc>
                <a:spcPct val="150000"/>
              </a:lnSpc>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深入调研建筑幕墙韧性评估的专业标准、关键指标与业务流程</a:t>
            </a:r>
          </a:p>
          <a:p>
            <a:pPr algn="r">
              <a:lnSpc>
                <a:spcPct val="150000"/>
              </a:lnSpc>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研究基于深度学习的图像分类、目标检测与分割技术现状</a:t>
            </a:r>
          </a:p>
          <a:p>
            <a:pPr algn="r">
              <a:lnSpc>
                <a:spcPct val="150000"/>
              </a:lnSpc>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研究</a:t>
            </a:r>
            <a:r>
              <a:rPr kumimoji="0" lang="en"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AI Agent</a:t>
            </a: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与</a:t>
            </a:r>
            <a:r>
              <a:rPr kumimoji="0" lang="en"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LLM</a:t>
            </a: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在信息整合与报告生成中的应用范式</a:t>
            </a:r>
          </a:p>
          <a:p>
            <a:pPr algn="r">
              <a:lnSpc>
                <a:spcPct val="150000"/>
              </a:lnSpc>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分析海量图像批处理系统的设计模式与并发技术</a:t>
            </a:r>
          </a:p>
          <a:p>
            <a:pPr algn="r">
              <a:lnSpc>
                <a:spcPct val="150000"/>
              </a:lnSpc>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完成软件系统的需求规格说明书撰写 </a:t>
            </a:r>
          </a:p>
        </p:txBody>
      </p:sp>
      <p:sp>
        <p:nvSpPr>
          <p:cNvPr id="8" name="矩形 7">
            <a:extLst>
              <a:ext uri="{FF2B5EF4-FFF2-40B4-BE49-F238E27FC236}">
                <a16:creationId xmlns:a16="http://schemas.microsoft.com/office/drawing/2014/main" id="{98BB136A-4432-E372-A5DF-FB1C26B6F353}"/>
              </a:ext>
            </a:extLst>
          </p:cNvPr>
          <p:cNvSpPr/>
          <p:nvPr/>
        </p:nvSpPr>
        <p:spPr>
          <a:xfrm>
            <a:off x="725082" y="4370894"/>
            <a:ext cx="3357017" cy="1152303"/>
          </a:xfrm>
          <a:prstGeom prst="rect">
            <a:avLst/>
          </a:prstGeom>
        </p:spPr>
        <p:txBody>
          <a:bodyPr wrap="square">
            <a:spAutoFit/>
          </a:bodyPr>
          <a:lstStyle/>
          <a:p>
            <a:pPr marL="0" marR="0" lvl="0" indent="0" algn="r" defTabSz="914400" rtl="0" eaLnBrk="1" fontAlgn="auto" latinLnBrk="0" hangingPunct="1">
              <a:lnSpc>
                <a:spcPct val="150000"/>
              </a:lnSpc>
              <a:spcBef>
                <a:spcPts val="300"/>
              </a:spcBef>
              <a:spcAft>
                <a:spcPts val="0"/>
              </a:spcAft>
              <a:buClrTx/>
              <a:buSzTx/>
              <a:buFontTx/>
              <a:buNone/>
              <a:tabLst/>
              <a:defRPr/>
            </a:pPr>
            <a:r>
              <a:rPr lang="zh-CN" altLang="en-US" sz="2000" b="1" dirty="0">
                <a:solidFill>
                  <a:srgbClr val="002060"/>
                </a:solidFill>
                <a:latin typeface="微软雅黑" panose="020B0503020204020204" pitchFamily="34" charset="-122"/>
                <a:ea typeface="微软雅黑" panose="020B0503020204020204" pitchFamily="34" charset="-122"/>
              </a:rPr>
              <a:t>撰写毕业设计论文</a:t>
            </a:r>
            <a:endParaRPr lang="en-US" altLang="zh-CN" sz="2000" b="1" dirty="0">
              <a:solidFill>
                <a:srgbClr val="002060"/>
              </a:solidFill>
              <a:latin typeface="微软雅黑" panose="020B0503020204020204" pitchFamily="34" charset="-122"/>
              <a:ea typeface="微软雅黑" panose="020B0503020204020204" pitchFamily="34" charset="-122"/>
            </a:endParaRPr>
          </a:p>
          <a:p>
            <a:pPr marL="0" marR="0" lvl="0" indent="0" algn="r" defTabSz="914400" rtl="0" eaLnBrk="1" fontAlgn="auto" latinLnBrk="0" hangingPunct="1">
              <a:lnSpc>
                <a:spcPct val="150000"/>
              </a:lnSpc>
              <a:spcBef>
                <a:spcPts val="30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整理毕业设计工作，起草撰写与修改论文</a:t>
            </a:r>
            <a:endPar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50000"/>
              </a:lnSpc>
              <a:spcBef>
                <a:spcPts val="30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准备答辩材料及结题答辩</a:t>
            </a:r>
          </a:p>
        </p:txBody>
      </p:sp>
      <p:sp>
        <p:nvSpPr>
          <p:cNvPr id="15" name="矩形 14">
            <a:extLst>
              <a:ext uri="{FF2B5EF4-FFF2-40B4-BE49-F238E27FC236}">
                <a16:creationId xmlns:a16="http://schemas.microsoft.com/office/drawing/2014/main" id="{5F4629C6-CA63-DAD2-B263-CFE2A2E40B4E}"/>
              </a:ext>
            </a:extLst>
          </p:cNvPr>
          <p:cNvSpPr/>
          <p:nvPr/>
        </p:nvSpPr>
        <p:spPr>
          <a:xfrm>
            <a:off x="7781614" y="4370894"/>
            <a:ext cx="4270536" cy="2239909"/>
          </a:xfrm>
          <a:prstGeom prst="rect">
            <a:avLst/>
          </a:prstGeom>
        </p:spPr>
        <p:txBody>
          <a:bodyPr wrap="square">
            <a:spAutoFit/>
          </a:bodyPr>
          <a:lstStyle/>
          <a:p>
            <a:pPr marL="0" marR="0" lvl="0" indent="0" defTabSz="914400" rtl="0" eaLnBrk="1" fontAlgn="auto" latinLnBrk="0" hangingPunct="1">
              <a:lnSpc>
                <a:spcPct val="150000"/>
              </a:lnSpc>
              <a:spcBef>
                <a:spcPts val="300"/>
              </a:spcBef>
              <a:spcAft>
                <a:spcPts val="0"/>
              </a:spcAft>
              <a:buClrTx/>
              <a:buSzTx/>
              <a:buFontTx/>
              <a:buNone/>
              <a:tabLst/>
              <a:defRPr/>
            </a:pPr>
            <a:r>
              <a:rPr kumimoji="0" lang="zh-CN" altLang="en-US"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系统集成、测试与验证</a:t>
            </a:r>
            <a:endParaRPr kumimoji="0"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0" marR="0" lvl="0" indent="0" defTabSz="914400" rtl="0" eaLnBrk="1" fontAlgn="auto" latinLnBrk="0" hangingPunct="1">
              <a:lnSpc>
                <a:spcPct val="150000"/>
              </a:lnSpc>
              <a:spcBef>
                <a:spcPts val="30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集成所有模块，完成整个软件系统的编码开发</a:t>
            </a:r>
          </a:p>
          <a:p>
            <a:pPr marL="0" marR="0" lvl="0" indent="0" defTabSz="914400" rtl="0" eaLnBrk="1" fontAlgn="auto" latinLnBrk="0" hangingPunct="1">
              <a:lnSpc>
                <a:spcPct val="150000"/>
              </a:lnSpc>
              <a:spcBef>
                <a:spcPts val="30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对分类模型、检测算法进行单元测试与性能评估</a:t>
            </a:r>
          </a:p>
          <a:p>
            <a:pPr marL="0" marR="0" lvl="0" indent="0" defTabSz="914400" rtl="0" eaLnBrk="1" fontAlgn="auto" latinLnBrk="0" hangingPunct="1">
              <a:lnSpc>
                <a:spcPct val="150000"/>
              </a:lnSpc>
              <a:spcBef>
                <a:spcPts val="30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使用模拟数据与真实案例数据对集成系统进行功能测试、压力测试</a:t>
            </a:r>
          </a:p>
          <a:p>
            <a:pPr marL="0" marR="0" lvl="0" indent="0" defTabSz="914400" rtl="0" eaLnBrk="1" fontAlgn="auto" latinLnBrk="0" hangingPunct="1">
              <a:lnSpc>
                <a:spcPct val="150000"/>
              </a:lnSpc>
              <a:spcBef>
                <a:spcPts val="30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验证系统处理海量图像的效率、各模块分析的准确性以及最终评估报告的逻辑合理性与专业性</a:t>
            </a:r>
          </a:p>
          <a:p>
            <a:pPr marL="0" marR="0" lvl="0" indent="0" defTabSz="914400" rtl="0" eaLnBrk="1" fontAlgn="auto" latinLnBrk="0" hangingPunct="1">
              <a:lnSpc>
                <a:spcPct val="150000"/>
              </a:lnSpc>
              <a:spcBef>
                <a:spcPts val="30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根据测试结果对系统进行优化与调整 </a:t>
            </a:r>
          </a:p>
        </p:txBody>
      </p:sp>
      <p:sp>
        <p:nvSpPr>
          <p:cNvPr id="21" name="矩形 20">
            <a:extLst>
              <a:ext uri="{FF2B5EF4-FFF2-40B4-BE49-F238E27FC236}">
                <a16:creationId xmlns:a16="http://schemas.microsoft.com/office/drawing/2014/main" id="{F78D885F-D142-820E-A9DB-37206B585669}"/>
              </a:ext>
            </a:extLst>
          </p:cNvPr>
          <p:cNvSpPr/>
          <p:nvPr/>
        </p:nvSpPr>
        <p:spPr>
          <a:xfrm>
            <a:off x="8107547" y="1540010"/>
            <a:ext cx="4156725" cy="2047548"/>
          </a:xfrm>
          <a:prstGeom prst="rect">
            <a:avLst/>
          </a:prstGeom>
        </p:spPr>
        <p:txBody>
          <a:bodyPr wrap="square">
            <a:spAutoFit/>
          </a:bodyPr>
          <a:lstStyle/>
          <a:p>
            <a:pPr marL="0" marR="0" lvl="0" indent="0" algn="l" defTabSz="914400" rtl="0" eaLnBrk="1" fontAlgn="auto" latinLnBrk="0" hangingPunct="1">
              <a:lnSpc>
                <a:spcPct val="150000"/>
              </a:lnSpc>
              <a:spcBef>
                <a:spcPts val="300"/>
              </a:spcBef>
              <a:spcAft>
                <a:spcPts val="0"/>
              </a:spcAft>
              <a:buClrTx/>
              <a:buSzTx/>
              <a:buFontTx/>
              <a:buNone/>
              <a:tabLst/>
              <a:defRPr/>
            </a:pPr>
            <a:r>
              <a:rPr lang="zh-CN" altLang="en-US" sz="2000" b="1" dirty="0">
                <a:solidFill>
                  <a:srgbClr val="002060"/>
                </a:solidFill>
                <a:latin typeface="微软雅黑" panose="020B0503020204020204" pitchFamily="34" charset="-122"/>
                <a:ea typeface="微软雅黑" panose="020B0503020204020204" pitchFamily="34" charset="-122"/>
              </a:rPr>
              <a:t>系统设计与核心算法实现</a:t>
            </a:r>
            <a:endParaRPr kumimoji="0" lang="en-US" altLang="zh-CN" sz="2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完成软件系统的总体架构设计与模块划分</a:t>
            </a:r>
            <a:endPar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设计并实现海量图像批处理与任务调度框架</a:t>
            </a:r>
            <a:endPar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收集或构建幕墙图像数据集，实现并训练幕墙材质分类模型</a:t>
            </a:r>
            <a:endPar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实现或集成针对不同材质的韧性指标视觉检测算法</a:t>
            </a:r>
            <a:endPar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设计并实现</a:t>
            </a:r>
            <a:r>
              <a:rPr kumimoji="0" lang="en"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AI Agent</a:t>
            </a: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模块以及与</a:t>
            </a:r>
            <a:r>
              <a:rPr kumimoji="0" lang="en"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LLM</a:t>
            </a: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的交互接</a:t>
            </a:r>
            <a:r>
              <a:rPr lang="zh-CN" altLang="en-US" sz="1100" dirty="0">
                <a:solidFill>
                  <a:prstClr val="black"/>
                </a:solidFill>
                <a:latin typeface="微软雅黑" panose="020B0503020204020204" pitchFamily="34" charset="-122"/>
                <a:ea typeface="微软雅黑" panose="020B0503020204020204" pitchFamily="34" charset="-122"/>
              </a:rPr>
              <a:t>口</a:t>
            </a:r>
            <a:endParaRPr lang="en-US" altLang="zh-CN" sz="1100" dirty="0">
              <a:solidFill>
                <a:prstClr val="black"/>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设计报告生成模板与</a:t>
            </a:r>
            <a:r>
              <a:rPr kumimoji="0" lang="en"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LLM</a:t>
            </a: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提示词工程，实现结构化报告自动生成</a:t>
            </a:r>
          </a:p>
        </p:txBody>
      </p:sp>
      <p:grpSp>
        <p:nvGrpSpPr>
          <p:cNvPr id="34" name="组合 33">
            <a:extLst>
              <a:ext uri="{FF2B5EF4-FFF2-40B4-BE49-F238E27FC236}">
                <a16:creationId xmlns:a16="http://schemas.microsoft.com/office/drawing/2014/main" id="{6698BA93-94C8-0F09-0310-7FA25A8D7958}"/>
              </a:ext>
            </a:extLst>
          </p:cNvPr>
          <p:cNvGrpSpPr/>
          <p:nvPr/>
        </p:nvGrpSpPr>
        <p:grpSpPr>
          <a:xfrm>
            <a:off x="4059805" y="1817401"/>
            <a:ext cx="3951019" cy="3951019"/>
            <a:chOff x="4102491" y="1997643"/>
            <a:chExt cx="3951019" cy="3951019"/>
          </a:xfrm>
        </p:grpSpPr>
        <p:grpSp>
          <p:nvGrpSpPr>
            <p:cNvPr id="22" name="组合 21">
              <a:extLst>
                <a:ext uri="{FF2B5EF4-FFF2-40B4-BE49-F238E27FC236}">
                  <a16:creationId xmlns:a16="http://schemas.microsoft.com/office/drawing/2014/main" id="{61285CB1-81B0-17DC-B042-E0995508EA06}"/>
                </a:ext>
              </a:extLst>
            </p:cNvPr>
            <p:cNvGrpSpPr/>
            <p:nvPr/>
          </p:nvGrpSpPr>
          <p:grpSpPr>
            <a:xfrm>
              <a:off x="4102491" y="1997643"/>
              <a:ext cx="3951019" cy="3951019"/>
              <a:chOff x="4102491" y="1997643"/>
              <a:chExt cx="3951019" cy="3951019"/>
            </a:xfrm>
          </p:grpSpPr>
          <p:sp>
            <p:nvSpPr>
              <p:cNvPr id="23" name="任意多边形: 形状 22">
                <a:extLst>
                  <a:ext uri="{FF2B5EF4-FFF2-40B4-BE49-F238E27FC236}">
                    <a16:creationId xmlns:a16="http://schemas.microsoft.com/office/drawing/2014/main" id="{0D30D38A-B250-8A14-750F-4442A91F5650}"/>
                  </a:ext>
                </a:extLst>
              </p:cNvPr>
              <p:cNvSpPr/>
              <p:nvPr/>
            </p:nvSpPr>
            <p:spPr>
              <a:xfrm>
                <a:off x="4428424" y="2208971"/>
                <a:ext cx="3413758" cy="3413758"/>
              </a:xfrm>
              <a:custGeom>
                <a:avLst/>
                <a:gdLst>
                  <a:gd name="connsiteX0" fmla="*/ 1706879 w 3413758"/>
                  <a:gd name="connsiteY0" fmla="*/ 0 h 3413758"/>
                  <a:gd name="connsiteX1" fmla="*/ 3413758 w 3413758"/>
                  <a:gd name="connsiteY1" fmla="*/ 1706879 h 3413758"/>
                  <a:gd name="connsiteX2" fmla="*/ 1706879 w 3413758"/>
                  <a:gd name="connsiteY2" fmla="*/ 1706879 h 3413758"/>
                  <a:gd name="connsiteX3" fmla="*/ 1706879 w 3413758"/>
                  <a:gd name="connsiteY3" fmla="*/ 0 h 3413758"/>
                </a:gdLst>
                <a:ahLst/>
                <a:cxnLst>
                  <a:cxn ang="0">
                    <a:pos x="connsiteX0" y="connsiteY0"/>
                  </a:cxn>
                  <a:cxn ang="0">
                    <a:pos x="connsiteX1" y="connsiteY1"/>
                  </a:cxn>
                  <a:cxn ang="0">
                    <a:pos x="connsiteX2" y="connsiteY2"/>
                  </a:cxn>
                  <a:cxn ang="0">
                    <a:pos x="connsiteX3" y="connsiteY3"/>
                  </a:cxn>
                </a:cxnLst>
                <a:rect l="l" t="t" r="r" b="b"/>
                <a:pathLst>
                  <a:path w="3413758" h="3413758">
                    <a:moveTo>
                      <a:pt x="1706879" y="0"/>
                    </a:moveTo>
                    <a:cubicBezTo>
                      <a:pt x="2649562" y="0"/>
                      <a:pt x="3413758" y="764196"/>
                      <a:pt x="3413758" y="1706879"/>
                    </a:cubicBezTo>
                    <a:lnTo>
                      <a:pt x="1706879" y="1706879"/>
                    </a:lnTo>
                    <a:lnTo>
                      <a:pt x="1706879" y="0"/>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64206" tIns="759612" rIns="393853" bIns="1823567" numCol="1" spcCol="1270" anchor="ctr" anchorCtr="0">
                <a:noAutofit/>
              </a:bodyPr>
              <a:lstStyle/>
              <a:p>
                <a:pPr marL="0" marR="0" lvl="0" indent="0" algn="ctr" defTabSz="1822450" rtl="0" eaLnBrk="1" fontAlgn="auto" latinLnBrk="0" hangingPunct="1">
                  <a:lnSpc>
                    <a:spcPct val="90000"/>
                  </a:lnSpc>
                  <a:spcBef>
                    <a:spcPct val="0"/>
                  </a:spcBef>
                  <a:spcAft>
                    <a:spcPct val="35000"/>
                  </a:spcAft>
                  <a:buClrTx/>
                  <a:buSzTx/>
                  <a:buFontTx/>
                  <a:buNone/>
                  <a:tabLst/>
                  <a:defRPr/>
                </a:pPr>
                <a:endParaRPr kumimoji="0" lang="zh-CN" altLang="en-US" sz="41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24" name="任意多边形: 形状 23">
                <a:extLst>
                  <a:ext uri="{FF2B5EF4-FFF2-40B4-BE49-F238E27FC236}">
                    <a16:creationId xmlns:a16="http://schemas.microsoft.com/office/drawing/2014/main" id="{AE5EC86D-6415-D0D9-2A97-BD21540536C3}"/>
                  </a:ext>
                </a:extLst>
              </p:cNvPr>
              <p:cNvSpPr/>
              <p:nvPr/>
            </p:nvSpPr>
            <p:spPr>
              <a:xfrm>
                <a:off x="4428424" y="2323576"/>
                <a:ext cx="3413758" cy="3413758"/>
              </a:xfrm>
              <a:custGeom>
                <a:avLst/>
                <a:gdLst>
                  <a:gd name="connsiteX0" fmla="*/ 3413758 w 3413758"/>
                  <a:gd name="connsiteY0" fmla="*/ 1706879 h 3413758"/>
                  <a:gd name="connsiteX1" fmla="*/ 1706879 w 3413758"/>
                  <a:gd name="connsiteY1" fmla="*/ 3413758 h 3413758"/>
                  <a:gd name="connsiteX2" fmla="*/ 1706879 w 3413758"/>
                  <a:gd name="connsiteY2" fmla="*/ 1706879 h 3413758"/>
                  <a:gd name="connsiteX3" fmla="*/ 3413758 w 3413758"/>
                  <a:gd name="connsiteY3" fmla="*/ 1706879 h 3413758"/>
                </a:gdLst>
                <a:ahLst/>
                <a:cxnLst>
                  <a:cxn ang="0">
                    <a:pos x="connsiteX0" y="connsiteY0"/>
                  </a:cxn>
                  <a:cxn ang="0">
                    <a:pos x="connsiteX1" y="connsiteY1"/>
                  </a:cxn>
                  <a:cxn ang="0">
                    <a:pos x="connsiteX2" y="connsiteY2"/>
                  </a:cxn>
                  <a:cxn ang="0">
                    <a:pos x="connsiteX3" y="connsiteY3"/>
                  </a:cxn>
                </a:cxnLst>
                <a:rect l="l" t="t" r="r" b="b"/>
                <a:pathLst>
                  <a:path w="3413758" h="3413758">
                    <a:moveTo>
                      <a:pt x="3413758" y="1706879"/>
                    </a:moveTo>
                    <a:cubicBezTo>
                      <a:pt x="3413758" y="2649562"/>
                      <a:pt x="2649562" y="3413758"/>
                      <a:pt x="1706879" y="3413758"/>
                    </a:cubicBezTo>
                    <a:lnTo>
                      <a:pt x="1706879" y="1706879"/>
                    </a:lnTo>
                    <a:lnTo>
                      <a:pt x="3413758" y="1706879"/>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64206" tIns="1823566" rIns="393853" bIns="759613" numCol="1" spcCol="1270" anchor="ctr" anchorCtr="0">
                <a:noAutofit/>
              </a:bodyPr>
              <a:lstStyle/>
              <a:p>
                <a:pPr marL="0" marR="0" lvl="0" indent="0" algn="ctr" defTabSz="1822450" rtl="0" eaLnBrk="1" fontAlgn="auto" latinLnBrk="0" hangingPunct="1">
                  <a:lnSpc>
                    <a:spcPct val="90000"/>
                  </a:lnSpc>
                  <a:spcBef>
                    <a:spcPct val="0"/>
                  </a:spcBef>
                  <a:spcAft>
                    <a:spcPct val="35000"/>
                  </a:spcAft>
                  <a:buClrTx/>
                  <a:buSzTx/>
                  <a:buFontTx/>
                  <a:buNone/>
                  <a:tabLst/>
                  <a:defRPr/>
                </a:pPr>
                <a:endParaRPr kumimoji="0" lang="zh-CN" altLang="en-US" sz="41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25" name="任意多边形: 形状 24">
                <a:extLst>
                  <a:ext uri="{FF2B5EF4-FFF2-40B4-BE49-F238E27FC236}">
                    <a16:creationId xmlns:a16="http://schemas.microsoft.com/office/drawing/2014/main" id="{69B64334-4D25-42CC-18C5-A50CCFCF57F4}"/>
                  </a:ext>
                </a:extLst>
              </p:cNvPr>
              <p:cNvSpPr/>
              <p:nvPr/>
            </p:nvSpPr>
            <p:spPr>
              <a:xfrm>
                <a:off x="4313819" y="2323576"/>
                <a:ext cx="3413758" cy="3413758"/>
              </a:xfrm>
              <a:custGeom>
                <a:avLst/>
                <a:gdLst>
                  <a:gd name="connsiteX0" fmla="*/ 1706879 w 3413758"/>
                  <a:gd name="connsiteY0" fmla="*/ 3413758 h 3413758"/>
                  <a:gd name="connsiteX1" fmla="*/ 0 w 3413758"/>
                  <a:gd name="connsiteY1" fmla="*/ 1706879 h 3413758"/>
                  <a:gd name="connsiteX2" fmla="*/ 1706879 w 3413758"/>
                  <a:gd name="connsiteY2" fmla="*/ 1706879 h 3413758"/>
                  <a:gd name="connsiteX3" fmla="*/ 1706879 w 3413758"/>
                  <a:gd name="connsiteY3" fmla="*/ 3413758 h 3413758"/>
                </a:gdLst>
                <a:ahLst/>
                <a:cxnLst>
                  <a:cxn ang="0">
                    <a:pos x="connsiteX0" y="connsiteY0"/>
                  </a:cxn>
                  <a:cxn ang="0">
                    <a:pos x="connsiteX1" y="connsiteY1"/>
                  </a:cxn>
                  <a:cxn ang="0">
                    <a:pos x="connsiteX2" y="connsiteY2"/>
                  </a:cxn>
                  <a:cxn ang="0">
                    <a:pos x="connsiteX3" y="connsiteY3"/>
                  </a:cxn>
                </a:cxnLst>
                <a:rect l="l" t="t" r="r" b="b"/>
                <a:pathLst>
                  <a:path w="3413758" h="3413758">
                    <a:moveTo>
                      <a:pt x="1706879" y="3413758"/>
                    </a:moveTo>
                    <a:cubicBezTo>
                      <a:pt x="764196" y="3413758"/>
                      <a:pt x="0" y="2649562"/>
                      <a:pt x="0" y="1706879"/>
                    </a:cubicBezTo>
                    <a:lnTo>
                      <a:pt x="1706879" y="1706879"/>
                    </a:lnTo>
                    <a:lnTo>
                      <a:pt x="1706879" y="3413758"/>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93852" tIns="1823566" rIns="1864207" bIns="759613" numCol="1" spcCol="1270" anchor="ctr" anchorCtr="0">
                <a:noAutofit/>
              </a:bodyPr>
              <a:lstStyle/>
              <a:p>
                <a:pPr marL="0" marR="0" lvl="0" indent="0" algn="ctr" defTabSz="1822450" rtl="0" eaLnBrk="1" fontAlgn="auto" latinLnBrk="0" hangingPunct="1">
                  <a:lnSpc>
                    <a:spcPct val="90000"/>
                  </a:lnSpc>
                  <a:spcBef>
                    <a:spcPct val="0"/>
                  </a:spcBef>
                  <a:spcAft>
                    <a:spcPct val="35000"/>
                  </a:spcAft>
                  <a:buClrTx/>
                  <a:buSzTx/>
                  <a:buFontTx/>
                  <a:buNone/>
                  <a:tabLst/>
                  <a:defRPr/>
                </a:pPr>
                <a:endParaRPr kumimoji="0" lang="zh-CN" altLang="en-US" sz="41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26" name="任意多边形: 形状 25">
                <a:extLst>
                  <a:ext uri="{FF2B5EF4-FFF2-40B4-BE49-F238E27FC236}">
                    <a16:creationId xmlns:a16="http://schemas.microsoft.com/office/drawing/2014/main" id="{F2AF84C8-2E63-7111-9ED3-7592E0EC4994}"/>
                  </a:ext>
                </a:extLst>
              </p:cNvPr>
              <p:cNvSpPr/>
              <p:nvPr/>
            </p:nvSpPr>
            <p:spPr>
              <a:xfrm>
                <a:off x="4313819" y="2208971"/>
                <a:ext cx="3413758" cy="3413758"/>
              </a:xfrm>
              <a:custGeom>
                <a:avLst/>
                <a:gdLst>
                  <a:gd name="connsiteX0" fmla="*/ 0 w 3413758"/>
                  <a:gd name="connsiteY0" fmla="*/ 1706879 h 3413758"/>
                  <a:gd name="connsiteX1" fmla="*/ 1706879 w 3413758"/>
                  <a:gd name="connsiteY1" fmla="*/ 0 h 3413758"/>
                  <a:gd name="connsiteX2" fmla="*/ 1706879 w 3413758"/>
                  <a:gd name="connsiteY2" fmla="*/ 1706879 h 3413758"/>
                  <a:gd name="connsiteX3" fmla="*/ 0 w 3413758"/>
                  <a:gd name="connsiteY3" fmla="*/ 1706879 h 3413758"/>
                </a:gdLst>
                <a:ahLst/>
                <a:cxnLst>
                  <a:cxn ang="0">
                    <a:pos x="connsiteX0" y="connsiteY0"/>
                  </a:cxn>
                  <a:cxn ang="0">
                    <a:pos x="connsiteX1" y="connsiteY1"/>
                  </a:cxn>
                  <a:cxn ang="0">
                    <a:pos x="connsiteX2" y="connsiteY2"/>
                  </a:cxn>
                  <a:cxn ang="0">
                    <a:pos x="connsiteX3" y="connsiteY3"/>
                  </a:cxn>
                </a:cxnLst>
                <a:rect l="l" t="t" r="r" b="b"/>
                <a:pathLst>
                  <a:path w="3413758" h="3413758">
                    <a:moveTo>
                      <a:pt x="0" y="1706879"/>
                    </a:moveTo>
                    <a:cubicBezTo>
                      <a:pt x="0" y="764196"/>
                      <a:pt x="764196" y="0"/>
                      <a:pt x="1706879" y="0"/>
                    </a:cubicBezTo>
                    <a:lnTo>
                      <a:pt x="1706879" y="1706879"/>
                    </a:lnTo>
                    <a:lnTo>
                      <a:pt x="0" y="1706879"/>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93852" tIns="759612" rIns="1864207" bIns="1823567" numCol="1" spcCol="1270" anchor="ctr" anchorCtr="0">
                <a:noAutofit/>
              </a:bodyPr>
              <a:lstStyle/>
              <a:p>
                <a:pPr marL="0" marR="0" lvl="0" indent="0" algn="ctr" defTabSz="1822450" rtl="0" eaLnBrk="1" fontAlgn="auto" latinLnBrk="0" hangingPunct="1">
                  <a:lnSpc>
                    <a:spcPct val="90000"/>
                  </a:lnSpc>
                  <a:spcBef>
                    <a:spcPct val="0"/>
                  </a:spcBef>
                  <a:spcAft>
                    <a:spcPct val="35000"/>
                  </a:spcAft>
                  <a:buClrTx/>
                  <a:buSzTx/>
                  <a:buFontTx/>
                  <a:buNone/>
                  <a:tabLst/>
                  <a:defRPr/>
                </a:pPr>
                <a:endParaRPr kumimoji="0" lang="zh-CN" altLang="en-US" sz="41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27" name="箭头: 环形 26">
                <a:extLst>
                  <a:ext uri="{FF2B5EF4-FFF2-40B4-BE49-F238E27FC236}">
                    <a16:creationId xmlns:a16="http://schemas.microsoft.com/office/drawing/2014/main" id="{F4B3CD3F-3D97-ABA8-E2D1-17125B149F5A}"/>
                  </a:ext>
                </a:extLst>
              </p:cNvPr>
              <p:cNvSpPr/>
              <p:nvPr/>
            </p:nvSpPr>
            <p:spPr>
              <a:xfrm>
                <a:off x="4217096" y="1997643"/>
                <a:ext cx="3836414" cy="3836414"/>
              </a:xfrm>
              <a:prstGeom prst="circularArrow">
                <a:avLst>
                  <a:gd name="adj1" fmla="val 5085"/>
                  <a:gd name="adj2" fmla="val 327528"/>
                  <a:gd name="adj3" fmla="val 21272472"/>
                  <a:gd name="adj4" fmla="val 16200000"/>
                  <a:gd name="adj5" fmla="val 5932"/>
                </a:avLst>
              </a:prstGeom>
              <a:gradFill flip="none" rotWithShape="1">
                <a:gsLst>
                  <a:gs pos="100000">
                    <a:schemeClr val="accent1"/>
                  </a:gs>
                  <a:gs pos="47000">
                    <a:schemeClr val="accent1">
                      <a:alpha val="50000"/>
                    </a:schemeClr>
                  </a:gs>
                  <a:gs pos="0">
                    <a:schemeClr val="bg1">
                      <a:alpha val="0"/>
                    </a:schemeClr>
                  </a:gs>
                </a:gsLst>
                <a:lin ang="0" scaled="1"/>
                <a:tileRect/>
              </a:gra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zh-CN" altLang="en-US"/>
              </a:p>
            </p:txBody>
          </p:sp>
          <p:sp>
            <p:nvSpPr>
              <p:cNvPr id="28" name="箭头: 环形 27">
                <a:extLst>
                  <a:ext uri="{FF2B5EF4-FFF2-40B4-BE49-F238E27FC236}">
                    <a16:creationId xmlns:a16="http://schemas.microsoft.com/office/drawing/2014/main" id="{084A3131-A8B7-4D75-66BC-2A0DB82BA40D}"/>
                  </a:ext>
                </a:extLst>
              </p:cNvPr>
              <p:cNvSpPr/>
              <p:nvPr/>
            </p:nvSpPr>
            <p:spPr>
              <a:xfrm>
                <a:off x="4217096" y="2112248"/>
                <a:ext cx="3836414" cy="3836414"/>
              </a:xfrm>
              <a:prstGeom prst="circularArrow">
                <a:avLst>
                  <a:gd name="adj1" fmla="val 5085"/>
                  <a:gd name="adj2" fmla="val 327528"/>
                  <a:gd name="adj3" fmla="val 5072472"/>
                  <a:gd name="adj4" fmla="val 0"/>
                  <a:gd name="adj5" fmla="val 5932"/>
                </a:avLst>
              </a:prstGeom>
              <a:gradFill flip="none" rotWithShape="1">
                <a:gsLst>
                  <a:gs pos="100000">
                    <a:schemeClr val="accent1"/>
                  </a:gs>
                  <a:gs pos="28000">
                    <a:schemeClr val="accent1">
                      <a:alpha val="50000"/>
                    </a:schemeClr>
                  </a:gs>
                  <a:gs pos="0">
                    <a:schemeClr val="bg1">
                      <a:alpha val="0"/>
                    </a:schemeClr>
                  </a:gs>
                </a:gsLst>
                <a:lin ang="5400000" scaled="1"/>
                <a:tileRect/>
              </a:gra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zh-CN" altLang="en-US"/>
              </a:p>
            </p:txBody>
          </p:sp>
          <p:sp>
            <p:nvSpPr>
              <p:cNvPr id="29" name="箭头: 环形 28">
                <a:extLst>
                  <a:ext uri="{FF2B5EF4-FFF2-40B4-BE49-F238E27FC236}">
                    <a16:creationId xmlns:a16="http://schemas.microsoft.com/office/drawing/2014/main" id="{0ECF6990-5BD7-9F90-5759-A593D2DFEF49}"/>
                  </a:ext>
                </a:extLst>
              </p:cNvPr>
              <p:cNvSpPr/>
              <p:nvPr/>
            </p:nvSpPr>
            <p:spPr>
              <a:xfrm>
                <a:off x="4102491" y="2112248"/>
                <a:ext cx="3836414" cy="3836414"/>
              </a:xfrm>
              <a:prstGeom prst="circularArrow">
                <a:avLst>
                  <a:gd name="adj1" fmla="val 5085"/>
                  <a:gd name="adj2" fmla="val 327528"/>
                  <a:gd name="adj3" fmla="val 10472472"/>
                  <a:gd name="adj4" fmla="val 5400000"/>
                  <a:gd name="adj5" fmla="val 5932"/>
                </a:avLst>
              </a:prstGeom>
              <a:gradFill flip="none" rotWithShape="1">
                <a:gsLst>
                  <a:gs pos="0">
                    <a:schemeClr val="accent1"/>
                  </a:gs>
                  <a:gs pos="69000">
                    <a:schemeClr val="accent1">
                      <a:alpha val="50000"/>
                    </a:schemeClr>
                  </a:gs>
                  <a:gs pos="100000">
                    <a:schemeClr val="bg1">
                      <a:alpha val="0"/>
                    </a:schemeClr>
                  </a:gs>
                </a:gsLst>
                <a:lin ang="0" scaled="1"/>
                <a:tileRect/>
              </a:gra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zh-CN" altLang="en-US"/>
              </a:p>
            </p:txBody>
          </p:sp>
          <p:sp>
            <p:nvSpPr>
              <p:cNvPr id="30" name="箭头: 环形 29">
                <a:extLst>
                  <a:ext uri="{FF2B5EF4-FFF2-40B4-BE49-F238E27FC236}">
                    <a16:creationId xmlns:a16="http://schemas.microsoft.com/office/drawing/2014/main" id="{5887344A-738E-5566-D5AF-DAA3604FDD45}"/>
                  </a:ext>
                </a:extLst>
              </p:cNvPr>
              <p:cNvSpPr/>
              <p:nvPr/>
            </p:nvSpPr>
            <p:spPr>
              <a:xfrm>
                <a:off x="4102491" y="1997643"/>
                <a:ext cx="3836414" cy="3836414"/>
              </a:xfrm>
              <a:prstGeom prst="circularArrow">
                <a:avLst>
                  <a:gd name="adj1" fmla="val 5085"/>
                  <a:gd name="adj2" fmla="val 327528"/>
                  <a:gd name="adj3" fmla="val 15872472"/>
                  <a:gd name="adj4" fmla="val 10800000"/>
                  <a:gd name="adj5" fmla="val 5932"/>
                </a:avLst>
              </a:prstGeom>
              <a:gradFill rotWithShape="0">
                <a:gsLst>
                  <a:gs pos="0">
                    <a:schemeClr val="accent1"/>
                  </a:gs>
                  <a:gs pos="41000">
                    <a:schemeClr val="accent1">
                      <a:alpha val="50000"/>
                    </a:schemeClr>
                  </a:gs>
                  <a:gs pos="100000">
                    <a:schemeClr val="bg1">
                      <a:alpha val="0"/>
                    </a:schemeClr>
                  </a:gs>
                </a:gsLst>
                <a:lin ang="5400000" scaled="1"/>
              </a:gra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zh-CN" altLang="en-US"/>
              </a:p>
            </p:txBody>
          </p:sp>
        </p:grpSp>
        <p:sp>
          <p:nvSpPr>
            <p:cNvPr id="17" name="文本框 16">
              <a:extLst>
                <a:ext uri="{FF2B5EF4-FFF2-40B4-BE49-F238E27FC236}">
                  <a16:creationId xmlns:a16="http://schemas.microsoft.com/office/drawing/2014/main" id="{814A4025-EBD7-F831-1F1B-7642C32AF95F}"/>
                </a:ext>
              </a:extLst>
            </p:cNvPr>
            <p:cNvSpPr txBox="1"/>
            <p:nvPr/>
          </p:nvSpPr>
          <p:spPr>
            <a:xfrm>
              <a:off x="4553787" y="2932387"/>
              <a:ext cx="1610512" cy="61555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第一阶段</a:t>
              </a:r>
              <a:endParaRPr kumimoji="0" lang="en-US" altLang="zh-CN" sz="20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2026</a:t>
              </a:r>
              <a:r>
                <a:rPr lang="zh-CN" altLang="en-US"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年</a:t>
              </a:r>
              <a:r>
                <a:rPr lang="en-US" altLang="zh-CN"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a:t>
              </a:r>
              <a:r>
                <a:rPr lang="zh-CN" altLang="en-US"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月前</a:t>
              </a:r>
              <a:endParaRPr kumimoji="0" lang="zh-CN" altLang="en-US" sz="14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1" name="文本框 30">
              <a:extLst>
                <a:ext uri="{FF2B5EF4-FFF2-40B4-BE49-F238E27FC236}">
                  <a16:creationId xmlns:a16="http://schemas.microsoft.com/office/drawing/2014/main" id="{778722DC-B43E-207E-AC7A-DC4C57B315AF}"/>
                </a:ext>
              </a:extLst>
            </p:cNvPr>
            <p:cNvSpPr txBox="1"/>
            <p:nvPr/>
          </p:nvSpPr>
          <p:spPr>
            <a:xfrm>
              <a:off x="5938958" y="2932387"/>
              <a:ext cx="1610512" cy="615553"/>
            </a:xfrm>
            <a:prstGeom prst="rect">
              <a:avLst/>
            </a:prstGeom>
            <a:noFill/>
          </p:spPr>
          <p:txBody>
            <a:bodyPr wrap="square" rtlCol="0">
              <a:spAutoFit/>
            </a:bodyPr>
            <a:lstStyle/>
            <a:p>
              <a:pPr lvl="0" algn="ctr">
                <a:defRPr/>
              </a:pPr>
              <a:r>
                <a:rPr lang="zh-CN" altLang="en-US" sz="20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第二阶段</a:t>
              </a:r>
              <a:endParaRPr kumimoji="0" lang="en-US" altLang="zh-CN" sz="20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2026</a:t>
              </a:r>
              <a:r>
                <a:rPr lang="zh-CN" altLang="en-US"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年</a:t>
              </a:r>
              <a:r>
                <a:rPr lang="en-US" altLang="zh-CN"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2-3</a:t>
              </a:r>
              <a:r>
                <a:rPr lang="zh-CN" altLang="en-US"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月</a:t>
              </a:r>
              <a:endParaRPr kumimoji="0" lang="zh-CN" altLang="en-US" sz="14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2" name="文本框 31">
              <a:extLst>
                <a:ext uri="{FF2B5EF4-FFF2-40B4-BE49-F238E27FC236}">
                  <a16:creationId xmlns:a16="http://schemas.microsoft.com/office/drawing/2014/main" id="{67A658B4-659D-15D2-80E4-E9047BA1A6AA}"/>
                </a:ext>
              </a:extLst>
            </p:cNvPr>
            <p:cNvSpPr txBox="1"/>
            <p:nvPr/>
          </p:nvSpPr>
          <p:spPr>
            <a:xfrm>
              <a:off x="4553787" y="4358357"/>
              <a:ext cx="1610512" cy="615553"/>
            </a:xfrm>
            <a:prstGeom prst="rect">
              <a:avLst/>
            </a:prstGeom>
            <a:noFill/>
          </p:spPr>
          <p:txBody>
            <a:bodyPr wrap="square" rtlCol="0">
              <a:spAutoFit/>
            </a:bodyPr>
            <a:lstStyle/>
            <a:p>
              <a:pPr lvl="0" algn="ctr">
                <a:defRPr/>
              </a:pPr>
              <a:r>
                <a:rPr lang="zh-CN" altLang="en-US" sz="20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第四阶段</a:t>
              </a:r>
              <a:endParaRPr kumimoji="0" lang="en-US" altLang="zh-CN" sz="20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2026</a:t>
              </a:r>
              <a:r>
                <a:rPr lang="zh-CN" altLang="en-US"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年</a:t>
              </a:r>
              <a:r>
                <a:rPr lang="en-US" altLang="zh-CN"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4-5</a:t>
              </a:r>
              <a:r>
                <a:rPr lang="zh-CN" altLang="en-US"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月</a:t>
              </a:r>
              <a:endParaRPr kumimoji="0" lang="zh-CN" altLang="en-US" sz="14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3" name="文本框 32">
              <a:extLst>
                <a:ext uri="{FF2B5EF4-FFF2-40B4-BE49-F238E27FC236}">
                  <a16:creationId xmlns:a16="http://schemas.microsoft.com/office/drawing/2014/main" id="{5DC203FA-4367-07F8-90E8-C008E30123B7}"/>
                </a:ext>
              </a:extLst>
            </p:cNvPr>
            <p:cNvSpPr txBox="1"/>
            <p:nvPr/>
          </p:nvSpPr>
          <p:spPr>
            <a:xfrm>
              <a:off x="5938958" y="4358357"/>
              <a:ext cx="1610512" cy="615553"/>
            </a:xfrm>
            <a:prstGeom prst="rect">
              <a:avLst/>
            </a:prstGeom>
            <a:noFill/>
          </p:spPr>
          <p:txBody>
            <a:bodyPr wrap="square" rtlCol="0">
              <a:spAutoFit/>
            </a:bodyPr>
            <a:lstStyle/>
            <a:p>
              <a:pPr lvl="0" algn="ctr">
                <a:defRPr/>
              </a:pPr>
              <a:r>
                <a:rPr lang="zh-CN" altLang="en-US" sz="20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第三阶段</a:t>
              </a:r>
              <a:endParaRPr kumimoji="0" lang="en-US" altLang="zh-CN" sz="20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2026</a:t>
              </a:r>
              <a:r>
                <a:rPr lang="zh-CN" altLang="en-US"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年</a:t>
              </a:r>
              <a:r>
                <a:rPr lang="en-US" altLang="zh-CN"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3-4</a:t>
              </a:r>
              <a:r>
                <a:rPr lang="zh-CN" altLang="en-US" sz="1400" b="1" dirty="0">
                  <a:solidFill>
                    <a:srgbClr val="4472C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月</a:t>
              </a:r>
              <a:endParaRPr kumimoji="0" lang="zh-CN" altLang="en-US" sz="14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Tree>
    <p:extLst>
      <p:ext uri="{BB962C8B-B14F-4D97-AF65-F5344CB8AC3E}">
        <p14:creationId xmlns:p14="http://schemas.microsoft.com/office/powerpoint/2010/main" val="2744373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43001" y="2644169"/>
            <a:ext cx="2035548"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600" b="1" i="0" u="none" strike="noStrike" kern="1200" cap="none" spc="0" normalizeH="0" baseline="0" noProof="0" dirty="0">
                <a:ln>
                  <a:noFill/>
                </a:ln>
                <a:solidFill>
                  <a:srgbClr val="5B9BD5">
                    <a:lumMod val="75000"/>
                  </a:srgbClr>
                </a:solidFill>
                <a:effectLst/>
                <a:uLnTx/>
                <a:uFillTx/>
                <a:latin typeface="微软雅黑"/>
                <a:ea typeface="微软雅黑"/>
                <a:cs typeface="+mn-cs"/>
              </a:rPr>
              <a:t>05</a:t>
            </a:r>
            <a:endParaRPr kumimoji="0" lang="zh-CN" altLang="en-US" sz="9600" b="1" i="0" u="none" strike="noStrike" kern="1200" cap="none" spc="0" normalizeH="0" baseline="0" noProof="0" dirty="0">
              <a:ln>
                <a:noFill/>
              </a:ln>
              <a:solidFill>
                <a:srgbClr val="5B9BD5">
                  <a:lumMod val="75000"/>
                </a:srgbClr>
              </a:solidFill>
              <a:effectLst/>
              <a:uLnTx/>
              <a:uFillTx/>
              <a:latin typeface="微软雅黑"/>
              <a:ea typeface="微软雅黑"/>
              <a:cs typeface="+mn-cs"/>
            </a:endParaRPr>
          </a:p>
        </p:txBody>
      </p:sp>
      <p:pic>
        <p:nvPicPr>
          <p:cNvPr id="11" name="图片 10"/>
          <p:cNvPicPr>
            <a:picLocks noChangeAspect="1"/>
          </p:cNvPicPr>
          <p:nvPr/>
        </p:nvPicPr>
        <p:blipFill>
          <a:blip r:embed="rId2"/>
          <a:stretch>
            <a:fillRect/>
          </a:stretch>
        </p:blipFill>
        <p:spPr>
          <a:xfrm>
            <a:off x="3178548" y="2127445"/>
            <a:ext cx="2992938" cy="2603109"/>
          </a:xfrm>
          <a:prstGeom prst="rect">
            <a:avLst/>
          </a:prstGeom>
        </p:spPr>
      </p:pic>
      <p:sp>
        <p:nvSpPr>
          <p:cNvPr id="4" name="文本框 3">
            <a:extLst>
              <a:ext uri="{FF2B5EF4-FFF2-40B4-BE49-F238E27FC236}">
                <a16:creationId xmlns:a16="http://schemas.microsoft.com/office/drawing/2014/main" id="{38E0A7E8-E9DE-1B42-34D6-52F464384F95}"/>
              </a:ext>
            </a:extLst>
          </p:cNvPr>
          <p:cNvSpPr txBox="1"/>
          <p:nvPr/>
        </p:nvSpPr>
        <p:spPr>
          <a:xfrm>
            <a:off x="4427527" y="2627722"/>
            <a:ext cx="7764473" cy="141205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微软雅黑"/>
                <a:ea typeface="微软雅黑"/>
                <a:cs typeface="+mn-cs"/>
              </a:rPr>
              <a:t>预期成果</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Expected </a:t>
            </a:r>
            <a:r>
              <a:rPr lang="en-US" altLang="zh-CN" sz="2400" b="1" dirty="0">
                <a:solidFill>
                  <a:srgbClr val="002060"/>
                </a:solidFill>
                <a:latin typeface="微软雅黑"/>
                <a:ea typeface="微软雅黑"/>
              </a:rPr>
              <a:t>Outcome</a:t>
            </a:r>
            <a:r>
              <a:rPr kumimoji="0" lang="en-US" altLang="zh-CN" sz="2400" b="1" i="0" u="none" strike="noStrike" kern="1200" cap="none" spc="0" normalizeH="0" baseline="0" noProof="0" dirty="0">
                <a:ln>
                  <a:noFill/>
                </a:ln>
                <a:solidFill>
                  <a:srgbClr val="002060"/>
                </a:solidFill>
                <a:effectLst/>
                <a:uLnTx/>
                <a:uFillTx/>
                <a:latin typeface="微软雅黑"/>
                <a:ea typeface="微软雅黑"/>
                <a:cs typeface="+mn-cs"/>
              </a:rPr>
              <a:t>s</a:t>
            </a:r>
          </a:p>
        </p:txBody>
      </p:sp>
    </p:spTree>
    <p:extLst>
      <p:ext uri="{BB962C8B-B14F-4D97-AF65-F5344CB8AC3E}">
        <p14:creationId xmlns:p14="http://schemas.microsoft.com/office/powerpoint/2010/main" val="3038340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a:extLst>
              <a:ext uri="{FF2B5EF4-FFF2-40B4-BE49-F238E27FC236}">
                <a16:creationId xmlns:a16="http://schemas.microsoft.com/office/drawing/2014/main" id="{B1E40577-D233-9CE7-5D10-6CA3E450C7AC}"/>
              </a:ext>
            </a:extLst>
          </p:cNvPr>
          <p:cNvGrpSpPr/>
          <p:nvPr/>
        </p:nvGrpSpPr>
        <p:grpSpPr>
          <a:xfrm>
            <a:off x="1987549" y="3035561"/>
            <a:ext cx="8216901" cy="3412863"/>
            <a:chOff x="1993899" y="2924438"/>
            <a:chExt cx="8216901" cy="3412863"/>
          </a:xfrm>
        </p:grpSpPr>
        <p:sp>
          <p:nvSpPr>
            <p:cNvPr id="49" name="任意多边形: 形状 48">
              <a:extLst>
                <a:ext uri="{FF2B5EF4-FFF2-40B4-BE49-F238E27FC236}">
                  <a16:creationId xmlns:a16="http://schemas.microsoft.com/office/drawing/2014/main" id="{FB7AAF34-0346-9720-EC74-F177070117CB}"/>
                </a:ext>
              </a:extLst>
            </p:cNvPr>
            <p:cNvSpPr/>
            <p:nvPr/>
          </p:nvSpPr>
          <p:spPr>
            <a:xfrm>
              <a:off x="1993899" y="3073454"/>
              <a:ext cx="8216901" cy="3263846"/>
            </a:xfrm>
            <a:custGeom>
              <a:avLst/>
              <a:gdLst>
                <a:gd name="connsiteX0" fmla="*/ 4381053 w 8762106"/>
                <a:gd name="connsiteY0" fmla="*/ 0 h 3263846"/>
                <a:gd name="connsiteX1" fmla="*/ 8747505 w 8762106"/>
                <a:gd name="connsiteY1" fmla="*/ 3212428 h 3263846"/>
                <a:gd name="connsiteX2" fmla="*/ 8762106 w 8762106"/>
                <a:gd name="connsiteY2" fmla="*/ 3263846 h 3263846"/>
                <a:gd name="connsiteX3" fmla="*/ 0 w 8762106"/>
                <a:gd name="connsiteY3" fmla="*/ 3263846 h 3263846"/>
                <a:gd name="connsiteX4" fmla="*/ 14601 w 8762106"/>
                <a:gd name="connsiteY4" fmla="*/ 3212428 h 3263846"/>
                <a:gd name="connsiteX5" fmla="*/ 4381053 w 8762106"/>
                <a:gd name="connsiteY5" fmla="*/ 0 h 3263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2106" h="3263846">
                  <a:moveTo>
                    <a:pt x="4381053" y="0"/>
                  </a:moveTo>
                  <a:cubicBezTo>
                    <a:pt x="6432653" y="0"/>
                    <a:pt x="8168637" y="1351310"/>
                    <a:pt x="8747505" y="3212428"/>
                  </a:cubicBezTo>
                  <a:lnTo>
                    <a:pt x="8762106" y="3263846"/>
                  </a:lnTo>
                  <a:lnTo>
                    <a:pt x="0" y="3263846"/>
                  </a:lnTo>
                  <a:lnTo>
                    <a:pt x="14601" y="3212428"/>
                  </a:lnTo>
                  <a:cubicBezTo>
                    <a:pt x="593469" y="1351310"/>
                    <a:pt x="2329453" y="0"/>
                    <a:pt x="4381053" y="0"/>
                  </a:cubicBezTo>
                  <a:close/>
                </a:path>
              </a:pathLst>
            </a:custGeom>
            <a:noFill/>
            <a:ln w="6636" cap="flat">
              <a:solidFill>
                <a:srgbClr val="1840D5"/>
              </a:solidFill>
              <a:prstDash val="solid"/>
              <a:miter/>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1840D5"/>
                </a:solidFill>
                <a:effectLst/>
                <a:uLnTx/>
                <a:uFillTx/>
                <a:latin typeface="微软雅黑"/>
                <a:ea typeface="微软雅黑"/>
                <a:cs typeface="+mn-cs"/>
              </a:endParaRPr>
            </a:p>
          </p:txBody>
        </p:sp>
        <p:sp>
          <p:nvSpPr>
            <p:cNvPr id="50" name="任意多边形: 形状 49">
              <a:extLst>
                <a:ext uri="{FF2B5EF4-FFF2-40B4-BE49-F238E27FC236}">
                  <a16:creationId xmlns:a16="http://schemas.microsoft.com/office/drawing/2014/main" id="{6B6779A1-FB03-1CAD-171E-2B8E56C9EC39}"/>
                </a:ext>
              </a:extLst>
            </p:cNvPr>
            <p:cNvSpPr/>
            <p:nvPr/>
          </p:nvSpPr>
          <p:spPr>
            <a:xfrm>
              <a:off x="2278311" y="3429000"/>
              <a:ext cx="7635377" cy="2908301"/>
            </a:xfrm>
            <a:custGeom>
              <a:avLst/>
              <a:gdLst>
                <a:gd name="connsiteX0" fmla="*/ 3614612 w 7229225"/>
                <a:gd name="connsiteY0" fmla="*/ 0 h 2531839"/>
                <a:gd name="connsiteX1" fmla="*/ 7163546 w 7229225"/>
                <a:gd name="connsiteY1" fmla="*/ 2352392 h 2531839"/>
                <a:gd name="connsiteX2" fmla="*/ 7229225 w 7229225"/>
                <a:gd name="connsiteY2" fmla="*/ 2531839 h 2531839"/>
                <a:gd name="connsiteX3" fmla="*/ 0 w 7229225"/>
                <a:gd name="connsiteY3" fmla="*/ 2531839 h 2531839"/>
                <a:gd name="connsiteX4" fmla="*/ 65678 w 7229225"/>
                <a:gd name="connsiteY4" fmla="*/ 2352392 h 2531839"/>
                <a:gd name="connsiteX5" fmla="*/ 3614612 w 7229225"/>
                <a:gd name="connsiteY5" fmla="*/ 0 h 2531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29225" h="2531839">
                  <a:moveTo>
                    <a:pt x="3614612" y="0"/>
                  </a:moveTo>
                  <a:cubicBezTo>
                    <a:pt x="5210003" y="0"/>
                    <a:pt x="6578839" y="969990"/>
                    <a:pt x="7163546" y="2352392"/>
                  </a:cubicBezTo>
                  <a:lnTo>
                    <a:pt x="7229225" y="2531839"/>
                  </a:lnTo>
                  <a:lnTo>
                    <a:pt x="0" y="2531839"/>
                  </a:lnTo>
                  <a:lnTo>
                    <a:pt x="65678" y="2352392"/>
                  </a:lnTo>
                  <a:cubicBezTo>
                    <a:pt x="650385" y="969990"/>
                    <a:pt x="2019222" y="0"/>
                    <a:pt x="3614612" y="0"/>
                  </a:cubicBezTo>
                  <a:close/>
                </a:path>
              </a:pathLst>
            </a:cu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OPPOSans L" panose="00020600040101010101" pitchFamily="18" charset="-122"/>
                <a:ea typeface="OPPOSans L" panose="00020600040101010101" pitchFamily="18" charset="-122"/>
                <a:cs typeface="+mn-cs"/>
              </a:endParaRPr>
            </a:p>
          </p:txBody>
        </p:sp>
        <p:grpSp>
          <p:nvGrpSpPr>
            <p:cNvPr id="51" name="组合 50">
              <a:extLst>
                <a:ext uri="{FF2B5EF4-FFF2-40B4-BE49-F238E27FC236}">
                  <a16:creationId xmlns:a16="http://schemas.microsoft.com/office/drawing/2014/main" id="{1C5CFA80-1850-9D02-C75A-2423164DAE6A}"/>
                </a:ext>
              </a:extLst>
            </p:cNvPr>
            <p:cNvGrpSpPr/>
            <p:nvPr/>
          </p:nvGrpSpPr>
          <p:grpSpPr>
            <a:xfrm>
              <a:off x="3233641" y="3950375"/>
              <a:ext cx="300567" cy="301331"/>
              <a:chOff x="3934145" y="1576902"/>
              <a:chExt cx="300567" cy="301331"/>
            </a:xfrm>
          </p:grpSpPr>
          <p:grpSp>
            <p:nvGrpSpPr>
              <p:cNvPr id="72" name="组合 71">
                <a:extLst>
                  <a:ext uri="{FF2B5EF4-FFF2-40B4-BE49-F238E27FC236}">
                    <a16:creationId xmlns:a16="http://schemas.microsoft.com/office/drawing/2014/main" id="{0AB5E4FD-32D1-997F-C6BC-9E653C158620}"/>
                  </a:ext>
                </a:extLst>
              </p:cNvPr>
              <p:cNvGrpSpPr/>
              <p:nvPr/>
            </p:nvGrpSpPr>
            <p:grpSpPr>
              <a:xfrm>
                <a:off x="3964084" y="1606917"/>
                <a:ext cx="240688" cy="241300"/>
                <a:chOff x="4699534" y="705384"/>
                <a:chExt cx="279400" cy="279400"/>
              </a:xfrm>
            </p:grpSpPr>
            <p:sp>
              <p:nvSpPr>
                <p:cNvPr id="74" name="椭圆 73">
                  <a:extLst>
                    <a:ext uri="{FF2B5EF4-FFF2-40B4-BE49-F238E27FC236}">
                      <a16:creationId xmlns:a16="http://schemas.microsoft.com/office/drawing/2014/main" id="{0D631DAE-D2B0-074B-8BA1-0AF15CD393C4}"/>
                    </a:ext>
                  </a:extLst>
                </p:cNvPr>
                <p:cNvSpPr/>
                <p:nvPr/>
              </p:nvSpPr>
              <p:spPr>
                <a:xfrm>
                  <a:off x="4699534" y="705384"/>
                  <a:ext cx="279400" cy="279400"/>
                </a:xfrm>
                <a:prstGeom prst="ellipse">
                  <a:avLst/>
                </a:prstGeom>
                <a:solidFill>
                  <a:srgbClr val="1840D5">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75" name="椭圆 74">
                  <a:extLst>
                    <a:ext uri="{FF2B5EF4-FFF2-40B4-BE49-F238E27FC236}">
                      <a16:creationId xmlns:a16="http://schemas.microsoft.com/office/drawing/2014/main" id="{76909568-A1A5-2EEE-D109-915DC0D7FFC3}"/>
                    </a:ext>
                  </a:extLst>
                </p:cNvPr>
                <p:cNvSpPr/>
                <p:nvPr/>
              </p:nvSpPr>
              <p:spPr>
                <a:xfrm>
                  <a:off x="4745877" y="751746"/>
                  <a:ext cx="171970" cy="171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grpSp>
          <p:sp>
            <p:nvSpPr>
              <p:cNvPr id="73" name="椭圆 72">
                <a:extLst>
                  <a:ext uri="{FF2B5EF4-FFF2-40B4-BE49-F238E27FC236}">
                    <a16:creationId xmlns:a16="http://schemas.microsoft.com/office/drawing/2014/main" id="{1A2544E9-EA49-F352-25C1-8951A2F85F25}"/>
                  </a:ext>
                </a:extLst>
              </p:cNvPr>
              <p:cNvSpPr/>
              <p:nvPr/>
            </p:nvSpPr>
            <p:spPr>
              <a:xfrm>
                <a:off x="3934145" y="1576902"/>
                <a:ext cx="300567" cy="301331"/>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grpSp>
        <p:grpSp>
          <p:nvGrpSpPr>
            <p:cNvPr id="52" name="组合 51">
              <a:extLst>
                <a:ext uri="{FF2B5EF4-FFF2-40B4-BE49-F238E27FC236}">
                  <a16:creationId xmlns:a16="http://schemas.microsoft.com/office/drawing/2014/main" id="{FE5C9F9D-D8D7-A041-A7B1-95F07B6E3084}"/>
                </a:ext>
              </a:extLst>
            </p:cNvPr>
            <p:cNvGrpSpPr/>
            <p:nvPr/>
          </p:nvGrpSpPr>
          <p:grpSpPr>
            <a:xfrm>
              <a:off x="2198256" y="5300675"/>
              <a:ext cx="300567" cy="301331"/>
              <a:chOff x="3934145" y="1576902"/>
              <a:chExt cx="300567" cy="301331"/>
            </a:xfrm>
          </p:grpSpPr>
          <p:grpSp>
            <p:nvGrpSpPr>
              <p:cNvPr id="68" name="组合 67">
                <a:extLst>
                  <a:ext uri="{FF2B5EF4-FFF2-40B4-BE49-F238E27FC236}">
                    <a16:creationId xmlns:a16="http://schemas.microsoft.com/office/drawing/2014/main" id="{DE3F80A5-436A-B73A-2276-C124D2D1DCFC}"/>
                  </a:ext>
                </a:extLst>
              </p:cNvPr>
              <p:cNvGrpSpPr/>
              <p:nvPr/>
            </p:nvGrpSpPr>
            <p:grpSpPr>
              <a:xfrm>
                <a:off x="3964084" y="1606917"/>
                <a:ext cx="240688" cy="241300"/>
                <a:chOff x="4699534" y="705384"/>
                <a:chExt cx="279400" cy="279400"/>
              </a:xfrm>
            </p:grpSpPr>
            <p:sp>
              <p:nvSpPr>
                <p:cNvPr id="70" name="椭圆 69">
                  <a:extLst>
                    <a:ext uri="{FF2B5EF4-FFF2-40B4-BE49-F238E27FC236}">
                      <a16:creationId xmlns:a16="http://schemas.microsoft.com/office/drawing/2014/main" id="{28A2C239-EDB3-422F-DA0D-7A0E563B4BBC}"/>
                    </a:ext>
                  </a:extLst>
                </p:cNvPr>
                <p:cNvSpPr/>
                <p:nvPr/>
              </p:nvSpPr>
              <p:spPr>
                <a:xfrm>
                  <a:off x="4699534" y="705384"/>
                  <a:ext cx="279400" cy="279400"/>
                </a:xfrm>
                <a:prstGeom prst="ellipse">
                  <a:avLst/>
                </a:prstGeom>
                <a:solidFill>
                  <a:srgbClr val="1840D5">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71" name="椭圆 70">
                  <a:extLst>
                    <a:ext uri="{FF2B5EF4-FFF2-40B4-BE49-F238E27FC236}">
                      <a16:creationId xmlns:a16="http://schemas.microsoft.com/office/drawing/2014/main" id="{66FA437B-6889-5083-787C-E72AF601D736}"/>
                    </a:ext>
                  </a:extLst>
                </p:cNvPr>
                <p:cNvSpPr/>
                <p:nvPr/>
              </p:nvSpPr>
              <p:spPr>
                <a:xfrm>
                  <a:off x="4745877" y="751746"/>
                  <a:ext cx="171970" cy="171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grpSp>
          <p:sp>
            <p:nvSpPr>
              <p:cNvPr id="69" name="椭圆 68">
                <a:extLst>
                  <a:ext uri="{FF2B5EF4-FFF2-40B4-BE49-F238E27FC236}">
                    <a16:creationId xmlns:a16="http://schemas.microsoft.com/office/drawing/2014/main" id="{1AF72C2D-CAE2-0D1A-720C-B9D095869E28}"/>
                  </a:ext>
                </a:extLst>
              </p:cNvPr>
              <p:cNvSpPr/>
              <p:nvPr/>
            </p:nvSpPr>
            <p:spPr>
              <a:xfrm>
                <a:off x="3934145" y="1576902"/>
                <a:ext cx="300567" cy="301331"/>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grpSp>
        <p:grpSp>
          <p:nvGrpSpPr>
            <p:cNvPr id="53" name="组合 52">
              <a:extLst>
                <a:ext uri="{FF2B5EF4-FFF2-40B4-BE49-F238E27FC236}">
                  <a16:creationId xmlns:a16="http://schemas.microsoft.com/office/drawing/2014/main" id="{CD54A499-B267-BC67-21D5-EA445ED7E695}"/>
                </a:ext>
              </a:extLst>
            </p:cNvPr>
            <p:cNvGrpSpPr/>
            <p:nvPr/>
          </p:nvGrpSpPr>
          <p:grpSpPr>
            <a:xfrm>
              <a:off x="5945717" y="2924438"/>
              <a:ext cx="300567" cy="301331"/>
              <a:chOff x="3934145" y="1576902"/>
              <a:chExt cx="300567" cy="301331"/>
            </a:xfrm>
          </p:grpSpPr>
          <p:grpSp>
            <p:nvGrpSpPr>
              <p:cNvPr id="64" name="组合 63">
                <a:extLst>
                  <a:ext uri="{FF2B5EF4-FFF2-40B4-BE49-F238E27FC236}">
                    <a16:creationId xmlns:a16="http://schemas.microsoft.com/office/drawing/2014/main" id="{1725CD6E-CA4C-3169-FD13-B679C4578F1F}"/>
                  </a:ext>
                </a:extLst>
              </p:cNvPr>
              <p:cNvGrpSpPr/>
              <p:nvPr/>
            </p:nvGrpSpPr>
            <p:grpSpPr>
              <a:xfrm>
                <a:off x="3964084" y="1606917"/>
                <a:ext cx="240688" cy="241300"/>
                <a:chOff x="4699534" y="705384"/>
                <a:chExt cx="279400" cy="279400"/>
              </a:xfrm>
            </p:grpSpPr>
            <p:sp>
              <p:nvSpPr>
                <p:cNvPr id="66" name="椭圆 65">
                  <a:extLst>
                    <a:ext uri="{FF2B5EF4-FFF2-40B4-BE49-F238E27FC236}">
                      <a16:creationId xmlns:a16="http://schemas.microsoft.com/office/drawing/2014/main" id="{B7077D7B-231F-BD32-BDED-6761CCCBEE68}"/>
                    </a:ext>
                  </a:extLst>
                </p:cNvPr>
                <p:cNvSpPr/>
                <p:nvPr/>
              </p:nvSpPr>
              <p:spPr>
                <a:xfrm>
                  <a:off x="4699534" y="705384"/>
                  <a:ext cx="279400" cy="279400"/>
                </a:xfrm>
                <a:prstGeom prst="ellipse">
                  <a:avLst/>
                </a:prstGeom>
                <a:solidFill>
                  <a:srgbClr val="1840D5">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67" name="椭圆 66">
                  <a:extLst>
                    <a:ext uri="{FF2B5EF4-FFF2-40B4-BE49-F238E27FC236}">
                      <a16:creationId xmlns:a16="http://schemas.microsoft.com/office/drawing/2014/main" id="{CA09F022-DD5C-1B76-C317-E332DC172385}"/>
                    </a:ext>
                  </a:extLst>
                </p:cNvPr>
                <p:cNvSpPr/>
                <p:nvPr/>
              </p:nvSpPr>
              <p:spPr>
                <a:xfrm>
                  <a:off x="4745877" y="751746"/>
                  <a:ext cx="171970" cy="171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grpSp>
          <p:sp>
            <p:nvSpPr>
              <p:cNvPr id="65" name="椭圆 64">
                <a:extLst>
                  <a:ext uri="{FF2B5EF4-FFF2-40B4-BE49-F238E27FC236}">
                    <a16:creationId xmlns:a16="http://schemas.microsoft.com/office/drawing/2014/main" id="{ECFAC449-9759-C7E7-EAF1-EE6E930D217A}"/>
                  </a:ext>
                </a:extLst>
              </p:cNvPr>
              <p:cNvSpPr/>
              <p:nvPr/>
            </p:nvSpPr>
            <p:spPr>
              <a:xfrm>
                <a:off x="3934145" y="1576902"/>
                <a:ext cx="300567" cy="301331"/>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grpSp>
        <p:grpSp>
          <p:nvGrpSpPr>
            <p:cNvPr id="54" name="组合 53">
              <a:extLst>
                <a:ext uri="{FF2B5EF4-FFF2-40B4-BE49-F238E27FC236}">
                  <a16:creationId xmlns:a16="http://schemas.microsoft.com/office/drawing/2014/main" id="{A2BD2FB7-70D7-D56F-035F-884412688B8A}"/>
                </a:ext>
              </a:extLst>
            </p:cNvPr>
            <p:cNvGrpSpPr/>
            <p:nvPr/>
          </p:nvGrpSpPr>
          <p:grpSpPr>
            <a:xfrm>
              <a:off x="8637615" y="3950375"/>
              <a:ext cx="300567" cy="301331"/>
              <a:chOff x="3934145" y="1576902"/>
              <a:chExt cx="300567" cy="301331"/>
            </a:xfrm>
          </p:grpSpPr>
          <p:grpSp>
            <p:nvGrpSpPr>
              <p:cNvPr id="60" name="组合 59">
                <a:extLst>
                  <a:ext uri="{FF2B5EF4-FFF2-40B4-BE49-F238E27FC236}">
                    <a16:creationId xmlns:a16="http://schemas.microsoft.com/office/drawing/2014/main" id="{BFD05500-9EE1-A823-38D9-66A68B28E259}"/>
                  </a:ext>
                </a:extLst>
              </p:cNvPr>
              <p:cNvGrpSpPr/>
              <p:nvPr/>
            </p:nvGrpSpPr>
            <p:grpSpPr>
              <a:xfrm>
                <a:off x="3964084" y="1606917"/>
                <a:ext cx="240688" cy="241300"/>
                <a:chOff x="4699534" y="705384"/>
                <a:chExt cx="279400" cy="279400"/>
              </a:xfrm>
            </p:grpSpPr>
            <p:sp>
              <p:nvSpPr>
                <p:cNvPr id="62" name="椭圆 61">
                  <a:extLst>
                    <a:ext uri="{FF2B5EF4-FFF2-40B4-BE49-F238E27FC236}">
                      <a16:creationId xmlns:a16="http://schemas.microsoft.com/office/drawing/2014/main" id="{ECB0FC87-19B5-D347-8BE2-C91FE2757689}"/>
                    </a:ext>
                  </a:extLst>
                </p:cNvPr>
                <p:cNvSpPr/>
                <p:nvPr/>
              </p:nvSpPr>
              <p:spPr>
                <a:xfrm>
                  <a:off x="4699534" y="705384"/>
                  <a:ext cx="279400" cy="279400"/>
                </a:xfrm>
                <a:prstGeom prst="ellipse">
                  <a:avLst/>
                </a:prstGeom>
                <a:solidFill>
                  <a:srgbClr val="1840D5">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63" name="椭圆 62">
                  <a:extLst>
                    <a:ext uri="{FF2B5EF4-FFF2-40B4-BE49-F238E27FC236}">
                      <a16:creationId xmlns:a16="http://schemas.microsoft.com/office/drawing/2014/main" id="{32D91609-6934-39AA-C241-BBE59F342A07}"/>
                    </a:ext>
                  </a:extLst>
                </p:cNvPr>
                <p:cNvSpPr/>
                <p:nvPr/>
              </p:nvSpPr>
              <p:spPr>
                <a:xfrm>
                  <a:off x="4745877" y="751746"/>
                  <a:ext cx="171970" cy="171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grpSp>
          <p:sp>
            <p:nvSpPr>
              <p:cNvPr id="61" name="椭圆 60">
                <a:extLst>
                  <a:ext uri="{FF2B5EF4-FFF2-40B4-BE49-F238E27FC236}">
                    <a16:creationId xmlns:a16="http://schemas.microsoft.com/office/drawing/2014/main" id="{6DC6CA03-9599-A5BE-69D6-0391FD36FF01}"/>
                  </a:ext>
                </a:extLst>
              </p:cNvPr>
              <p:cNvSpPr/>
              <p:nvPr/>
            </p:nvSpPr>
            <p:spPr>
              <a:xfrm>
                <a:off x="3934145" y="1576902"/>
                <a:ext cx="300567" cy="301331"/>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grpSp>
        <p:grpSp>
          <p:nvGrpSpPr>
            <p:cNvPr id="55" name="组合 54">
              <a:extLst>
                <a:ext uri="{FF2B5EF4-FFF2-40B4-BE49-F238E27FC236}">
                  <a16:creationId xmlns:a16="http://schemas.microsoft.com/office/drawing/2014/main" id="{0617B78A-AE0E-14F4-3F21-4A48A134EE2D}"/>
                </a:ext>
              </a:extLst>
            </p:cNvPr>
            <p:cNvGrpSpPr/>
            <p:nvPr/>
          </p:nvGrpSpPr>
          <p:grpSpPr>
            <a:xfrm>
              <a:off x="9681020" y="5234000"/>
              <a:ext cx="300567" cy="301331"/>
              <a:chOff x="3934145" y="1576902"/>
              <a:chExt cx="300567" cy="301331"/>
            </a:xfrm>
          </p:grpSpPr>
          <p:grpSp>
            <p:nvGrpSpPr>
              <p:cNvPr id="56" name="组合 55">
                <a:extLst>
                  <a:ext uri="{FF2B5EF4-FFF2-40B4-BE49-F238E27FC236}">
                    <a16:creationId xmlns:a16="http://schemas.microsoft.com/office/drawing/2014/main" id="{4E0C98C1-7D54-EC0B-B49A-AAD06F6ECF8C}"/>
                  </a:ext>
                </a:extLst>
              </p:cNvPr>
              <p:cNvGrpSpPr/>
              <p:nvPr/>
            </p:nvGrpSpPr>
            <p:grpSpPr>
              <a:xfrm>
                <a:off x="3964084" y="1606917"/>
                <a:ext cx="240688" cy="241300"/>
                <a:chOff x="4699534" y="705384"/>
                <a:chExt cx="279400" cy="279400"/>
              </a:xfrm>
            </p:grpSpPr>
            <p:sp>
              <p:nvSpPr>
                <p:cNvPr id="58" name="椭圆 57">
                  <a:extLst>
                    <a:ext uri="{FF2B5EF4-FFF2-40B4-BE49-F238E27FC236}">
                      <a16:creationId xmlns:a16="http://schemas.microsoft.com/office/drawing/2014/main" id="{3736E7CD-F93B-1755-CCF7-589E4F9BA9EA}"/>
                    </a:ext>
                  </a:extLst>
                </p:cNvPr>
                <p:cNvSpPr/>
                <p:nvPr/>
              </p:nvSpPr>
              <p:spPr>
                <a:xfrm>
                  <a:off x="4699534" y="705384"/>
                  <a:ext cx="279400" cy="279400"/>
                </a:xfrm>
                <a:prstGeom prst="ellipse">
                  <a:avLst/>
                </a:prstGeom>
                <a:solidFill>
                  <a:srgbClr val="1840D5">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59" name="椭圆 58">
                  <a:extLst>
                    <a:ext uri="{FF2B5EF4-FFF2-40B4-BE49-F238E27FC236}">
                      <a16:creationId xmlns:a16="http://schemas.microsoft.com/office/drawing/2014/main" id="{9AB080EA-3C9E-41EE-C633-63815359213C}"/>
                    </a:ext>
                  </a:extLst>
                </p:cNvPr>
                <p:cNvSpPr/>
                <p:nvPr/>
              </p:nvSpPr>
              <p:spPr>
                <a:xfrm>
                  <a:off x="4745877" y="751746"/>
                  <a:ext cx="171970" cy="171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grpSp>
          <p:sp>
            <p:nvSpPr>
              <p:cNvPr id="57" name="椭圆 56">
                <a:extLst>
                  <a:ext uri="{FF2B5EF4-FFF2-40B4-BE49-F238E27FC236}">
                    <a16:creationId xmlns:a16="http://schemas.microsoft.com/office/drawing/2014/main" id="{C71FD0E1-01FA-D06D-9E4D-A28F96AC19ED}"/>
                  </a:ext>
                </a:extLst>
              </p:cNvPr>
              <p:cNvSpPr/>
              <p:nvPr/>
            </p:nvSpPr>
            <p:spPr>
              <a:xfrm>
                <a:off x="3934145" y="1576902"/>
                <a:ext cx="300567" cy="301331"/>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grpSp>
      </p:grpSp>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预期成果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Expected Outcomes</a:t>
            </a:r>
          </a:p>
        </p:txBody>
      </p:sp>
      <p:sp>
        <p:nvSpPr>
          <p:cNvPr id="9" name="椭圆 8">
            <a:extLst>
              <a:ext uri="{FF2B5EF4-FFF2-40B4-BE49-F238E27FC236}">
                <a16:creationId xmlns:a16="http://schemas.microsoft.com/office/drawing/2014/main" id="{6E53D553-D14A-9510-29DC-0BD871A344F7}"/>
              </a:ext>
            </a:extLst>
          </p:cNvPr>
          <p:cNvSpPr/>
          <p:nvPr/>
        </p:nvSpPr>
        <p:spPr>
          <a:xfrm>
            <a:off x="9267825"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0" name="椭圆 9">
            <a:extLst>
              <a:ext uri="{FF2B5EF4-FFF2-40B4-BE49-F238E27FC236}">
                <a16:creationId xmlns:a16="http://schemas.microsoft.com/office/drawing/2014/main" id="{2877A471-42AB-DC68-B092-54364D1165E9}"/>
              </a:ext>
            </a:extLst>
          </p:cNvPr>
          <p:cNvSpPr/>
          <p:nvPr/>
        </p:nvSpPr>
        <p:spPr>
          <a:xfrm>
            <a:off x="9741693"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1" name="椭圆 10">
            <a:extLst>
              <a:ext uri="{FF2B5EF4-FFF2-40B4-BE49-F238E27FC236}">
                <a16:creationId xmlns:a16="http://schemas.microsoft.com/office/drawing/2014/main" id="{7E09F7AF-EEF0-EBEE-ED1E-474E69E23ED3}"/>
              </a:ext>
            </a:extLst>
          </p:cNvPr>
          <p:cNvSpPr/>
          <p:nvPr/>
        </p:nvSpPr>
        <p:spPr>
          <a:xfrm>
            <a:off x="10215561"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2" name="椭圆 11">
            <a:extLst>
              <a:ext uri="{FF2B5EF4-FFF2-40B4-BE49-F238E27FC236}">
                <a16:creationId xmlns:a16="http://schemas.microsoft.com/office/drawing/2014/main" id="{36115579-D11C-A2B3-C96B-4185E4804396}"/>
              </a:ext>
            </a:extLst>
          </p:cNvPr>
          <p:cNvSpPr/>
          <p:nvPr/>
        </p:nvSpPr>
        <p:spPr>
          <a:xfrm>
            <a:off x="10689430" y="552451"/>
            <a:ext cx="361950" cy="361950"/>
          </a:xfrm>
          <a:prstGeom prst="ellipse">
            <a:avLst/>
          </a:prstGeom>
          <a:no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13" name="椭圆 12">
            <a:extLst>
              <a:ext uri="{FF2B5EF4-FFF2-40B4-BE49-F238E27FC236}">
                <a16:creationId xmlns:a16="http://schemas.microsoft.com/office/drawing/2014/main" id="{06ADDE0A-B9B2-A40E-B2FA-977756B309AC}"/>
              </a:ext>
            </a:extLst>
          </p:cNvPr>
          <p:cNvSpPr/>
          <p:nvPr/>
        </p:nvSpPr>
        <p:spPr>
          <a:xfrm>
            <a:off x="11163299" y="552451"/>
            <a:ext cx="361950" cy="361950"/>
          </a:xfrm>
          <a:prstGeom prst="ellipse">
            <a:avLst/>
          </a:prstGeom>
          <a:solidFill>
            <a:schemeClr val="accent1">
              <a:lumMod val="40000"/>
              <a:lumOff val="60000"/>
            </a:schemeClr>
          </a:solidFill>
          <a:ln w="28575" cap="flat" cmpd="sng" algn="ctr">
            <a:solidFill>
              <a:srgbClr val="2E75B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solidFill>
              <a:effectLst/>
              <a:uLnTx/>
              <a:uFillTx/>
              <a:latin typeface="微软雅黑"/>
              <a:ea typeface="微软雅黑"/>
              <a:cs typeface="+mn-cs"/>
            </a:endParaRPr>
          </a:p>
        </p:txBody>
      </p:sp>
      <p:sp>
        <p:nvSpPr>
          <p:cNvPr id="5" name="文本框 4">
            <a:extLst>
              <a:ext uri="{FF2B5EF4-FFF2-40B4-BE49-F238E27FC236}">
                <a16:creationId xmlns:a16="http://schemas.microsoft.com/office/drawing/2014/main" id="{24D22F10-72BA-9232-8FCE-E25BE220C3ED}"/>
              </a:ext>
            </a:extLst>
          </p:cNvPr>
          <p:cNvSpPr txBox="1"/>
          <p:nvPr/>
        </p:nvSpPr>
        <p:spPr>
          <a:xfrm>
            <a:off x="9415492" y="3323859"/>
            <a:ext cx="2771215" cy="1680012"/>
          </a:xfrm>
          <a:prstGeom prst="rect">
            <a:avLst/>
          </a:prstGeom>
          <a:noFill/>
        </p:spPr>
        <p:txBody>
          <a:bodyPr wrap="square" rtlCol="0">
            <a:spAutoFit/>
          </a:bodyPr>
          <a:lstStyle>
            <a:defPPr>
              <a:defRPr lang="en-US"/>
            </a:defPPr>
            <a:lvl1pPr algn="ctr">
              <a:lnSpc>
                <a:spcPct val="130000"/>
              </a:lnSpc>
              <a:defRPr sz="1500">
                <a:solidFill>
                  <a:schemeClr val="tx1">
                    <a:lumMod val="65000"/>
                    <a:lumOff val="35000"/>
                  </a:schemeClr>
                </a:solidFill>
                <a:latin typeface="+mn-ea"/>
              </a:defRPr>
            </a:lvl1pPr>
          </a:lstStyle>
          <a:p>
            <a:pPr algn="just">
              <a:lnSpc>
                <a:spcPct val="125000"/>
              </a:lnSpc>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完整的设计与实验文档</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algn="just">
              <a:lnSpc>
                <a:spcPct val="125000"/>
              </a:lnSpc>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形成包含系统设计、核心算法实现、测试验证与分析在内的完整毕业设计论文与软件工程文档。</a:t>
            </a:r>
          </a:p>
        </p:txBody>
      </p:sp>
      <p:sp>
        <p:nvSpPr>
          <p:cNvPr id="8" name="文本框 7">
            <a:extLst>
              <a:ext uri="{FF2B5EF4-FFF2-40B4-BE49-F238E27FC236}">
                <a16:creationId xmlns:a16="http://schemas.microsoft.com/office/drawing/2014/main" id="{9CB536CE-BBDA-5BF7-540B-281FBBEF7534}"/>
              </a:ext>
            </a:extLst>
          </p:cNvPr>
          <p:cNvSpPr txBox="1"/>
          <p:nvPr/>
        </p:nvSpPr>
        <p:spPr>
          <a:xfrm>
            <a:off x="4335365" y="1218689"/>
            <a:ext cx="3809137" cy="1372235"/>
          </a:xfrm>
          <a:prstGeom prst="rect">
            <a:avLst/>
          </a:prstGeom>
          <a:noFill/>
        </p:spPr>
        <p:txBody>
          <a:bodyPr wrap="square" rtlCol="0">
            <a:spAutoFit/>
          </a:bodyPr>
          <a:lstStyle>
            <a:defPPr>
              <a:defRPr lang="en-US"/>
            </a:defPPr>
            <a:lvl1pPr algn="ctr">
              <a:lnSpc>
                <a:spcPct val="130000"/>
              </a:lnSpc>
              <a:defRPr sz="1500">
                <a:solidFill>
                  <a:schemeClr val="tx1">
                    <a:lumMod val="65000"/>
                    <a:lumOff val="35000"/>
                  </a:schemeClr>
                </a:solidFill>
                <a:latin typeface="+mn-ea"/>
              </a:defRPr>
            </a:lvl1pPr>
          </a:lstStyle>
          <a:p>
            <a:pPr algn="just">
              <a:lnSpc>
                <a:spcPct val="125000"/>
              </a:lnSpc>
              <a:defRPr/>
            </a:pPr>
            <a:r>
              <a:rPr kumimoji="0" lang="en"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AI Agent</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智能决策引擎</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algn="just">
              <a:lnSpc>
                <a:spcPct val="125000"/>
              </a:lnSpc>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开发一个能够自主调度各分析模块、整合多源检测结果，并基于</a:t>
            </a:r>
            <a:r>
              <a:rPr kumimoji="0" lang="en"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LLM</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进行综合韧性评估与报告生成的智能决策系统。</a:t>
            </a:r>
          </a:p>
        </p:txBody>
      </p:sp>
      <p:sp>
        <p:nvSpPr>
          <p:cNvPr id="15" name="文本框 14">
            <a:extLst>
              <a:ext uri="{FF2B5EF4-FFF2-40B4-BE49-F238E27FC236}">
                <a16:creationId xmlns:a16="http://schemas.microsoft.com/office/drawing/2014/main" id="{AA18A7AF-9324-5687-6E23-DAD6C76957DB}"/>
              </a:ext>
            </a:extLst>
          </p:cNvPr>
          <p:cNvSpPr txBox="1"/>
          <p:nvPr/>
        </p:nvSpPr>
        <p:spPr>
          <a:xfrm>
            <a:off x="125057" y="3323859"/>
            <a:ext cx="2812057" cy="1680012"/>
          </a:xfrm>
          <a:prstGeom prst="rect">
            <a:avLst/>
          </a:prstGeom>
          <a:noFill/>
        </p:spPr>
        <p:txBody>
          <a:bodyPr wrap="square" rtlCol="0">
            <a:spAutoFit/>
          </a:bodyPr>
          <a:lstStyle>
            <a:defPPr>
              <a:defRPr lang="en-US"/>
            </a:defPPr>
            <a:lvl1pPr>
              <a:lnSpc>
                <a:spcPct val="130000"/>
              </a:lnSpc>
              <a:defRPr sz="1500">
                <a:solidFill>
                  <a:schemeClr val="tx1">
                    <a:lumMod val="65000"/>
                    <a:lumOff val="35000"/>
                  </a:schemeClr>
                </a:solidFill>
                <a:latin typeface="+mn-ea"/>
              </a:defRPr>
            </a:lvl1pPr>
          </a:lstStyle>
          <a:p>
            <a:pPr algn="just">
              <a:lnSpc>
                <a:spcPct val="125000"/>
              </a:lnSpc>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海量图像高效处理框架</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algn="just">
              <a:lnSpc>
                <a:spcPct val="125000"/>
              </a:lnSpc>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设计并实现一个稳定、可扩展的软件框架，支持对单栋建筑海量幕墙图像的高效批量处理与任务调度。</a:t>
            </a:r>
          </a:p>
        </p:txBody>
      </p:sp>
      <p:sp>
        <p:nvSpPr>
          <p:cNvPr id="17" name="文本框 16">
            <a:extLst>
              <a:ext uri="{FF2B5EF4-FFF2-40B4-BE49-F238E27FC236}">
                <a16:creationId xmlns:a16="http://schemas.microsoft.com/office/drawing/2014/main" id="{FA4CF586-9B1A-76A2-C373-B6CBCF842083}"/>
              </a:ext>
            </a:extLst>
          </p:cNvPr>
          <p:cNvSpPr txBox="1"/>
          <p:nvPr/>
        </p:nvSpPr>
        <p:spPr>
          <a:xfrm>
            <a:off x="8322989" y="1477731"/>
            <a:ext cx="3319672" cy="1680012"/>
          </a:xfrm>
          <a:prstGeom prst="rect">
            <a:avLst/>
          </a:prstGeom>
          <a:noFill/>
        </p:spPr>
        <p:txBody>
          <a:bodyPr wrap="square" rtlCol="0">
            <a:spAutoFit/>
          </a:bodyPr>
          <a:lstStyle>
            <a:defPPr>
              <a:defRPr lang="en-US"/>
            </a:defPPr>
            <a:lvl1pPr algn="ctr">
              <a:lnSpc>
                <a:spcPct val="130000"/>
              </a:lnSpc>
              <a:defRPr sz="1500">
                <a:solidFill>
                  <a:schemeClr val="tx1">
                    <a:lumMod val="65000"/>
                    <a:lumOff val="35000"/>
                  </a:schemeClr>
                </a:solidFill>
                <a:latin typeface="+mn-ea"/>
              </a:defRPr>
            </a:lvl1pPr>
          </a:lstStyle>
          <a:p>
            <a:pPr algn="just">
              <a:lnSpc>
                <a:spcPct val="125000"/>
              </a:lnSpc>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端到端软件系统原型</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algn="just">
              <a:lnSpc>
                <a:spcPct val="125000"/>
              </a:lnSpc>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集成全部模块，实现一个具备图形用户界面、支持完整评估流程的软件工程原型，完成功能验证与性能测试。</a:t>
            </a:r>
          </a:p>
        </p:txBody>
      </p:sp>
      <p:sp>
        <p:nvSpPr>
          <p:cNvPr id="19" name="文本框 18">
            <a:extLst>
              <a:ext uri="{FF2B5EF4-FFF2-40B4-BE49-F238E27FC236}">
                <a16:creationId xmlns:a16="http://schemas.microsoft.com/office/drawing/2014/main" id="{FB6E5266-7B20-B20E-322B-DB5D54FC7B90}"/>
              </a:ext>
            </a:extLst>
          </p:cNvPr>
          <p:cNvSpPr txBox="1"/>
          <p:nvPr/>
        </p:nvSpPr>
        <p:spPr>
          <a:xfrm>
            <a:off x="559658" y="1477731"/>
            <a:ext cx="3601832" cy="1680012"/>
          </a:xfrm>
          <a:prstGeom prst="rect">
            <a:avLst/>
          </a:prstGeom>
          <a:noFill/>
        </p:spPr>
        <p:txBody>
          <a:bodyPr wrap="square" rtlCol="0">
            <a:spAutoFit/>
          </a:bodyPr>
          <a:lstStyle>
            <a:defPPr>
              <a:defRPr lang="en-US"/>
            </a:defPPr>
            <a:lvl1pPr algn="ctr">
              <a:lnSpc>
                <a:spcPct val="130000"/>
              </a:lnSpc>
              <a:defRPr sz="1500">
                <a:solidFill>
                  <a:schemeClr val="tx1">
                    <a:lumMod val="65000"/>
                    <a:lumOff val="35000"/>
                  </a:schemeClr>
                </a:solidFill>
                <a:latin typeface="+mn-ea"/>
              </a:defRPr>
            </a:lvl1pPr>
          </a:lstStyle>
          <a:p>
            <a:pPr algn="just">
              <a:lnSpc>
                <a:spcPct val="125000"/>
              </a:lnSpc>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多材质分类与专项检测模型</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algn="just">
              <a:lnSpc>
                <a:spcPct val="125000"/>
              </a:lnSpc>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构建并训练基于深度学习的幕墙材质分类模型，并针对玻璃、金属、石材等不同材质，实现多种韧性指标的自动化视觉检测。</a:t>
            </a:r>
          </a:p>
        </p:txBody>
      </p:sp>
      <p:sp>
        <p:nvSpPr>
          <p:cNvPr id="46" name="文本框 45">
            <a:extLst>
              <a:ext uri="{FF2B5EF4-FFF2-40B4-BE49-F238E27FC236}">
                <a16:creationId xmlns:a16="http://schemas.microsoft.com/office/drawing/2014/main" id="{4C9C2C51-11A0-2706-83A9-253D71B4CF92}"/>
              </a:ext>
            </a:extLst>
          </p:cNvPr>
          <p:cNvSpPr txBox="1"/>
          <p:nvPr/>
        </p:nvSpPr>
        <p:spPr>
          <a:xfrm>
            <a:off x="3632152" y="4405641"/>
            <a:ext cx="4845486" cy="1938992"/>
          </a:xfrm>
          <a:prstGeom prst="rect">
            <a:avLst/>
          </a:prstGeom>
          <a:noFill/>
        </p:spPr>
        <p:txBody>
          <a:bodyPr wrap="square" rtlCol="0">
            <a:spAutoFit/>
          </a:bodyPr>
          <a:lstStyle/>
          <a:p>
            <a:pPr lvl="0" algn="just">
              <a:defRPr/>
            </a:pPr>
            <a:r>
              <a:rPr lang="zh-CN" altLang="zh-CN" sz="2000" dirty="0"/>
              <a:t>本次毕业设计主要研究面向整体建筑幕墙的韧性智能评估软件系统的构建问题。即通过对单栋建筑的海量幕墙图像进行自动化批处理与智能分析，实现幕墙材质分类、韧性指标检测、基于</a:t>
            </a:r>
            <a:r>
              <a:rPr lang="en-US" altLang="zh-CN" sz="2000" dirty="0"/>
              <a:t>AI Agent</a:t>
            </a:r>
            <a:r>
              <a:rPr lang="zh-CN" altLang="zh-CN" sz="2000" dirty="0"/>
              <a:t>的多源结果整合与最终韧性评估报告生成。</a:t>
            </a:r>
            <a:endParaRPr kumimoji="0" lang="zh-CN" altLang="en-US" sz="2800" b="0" i="0" u="none" strike="noStrike" kern="1200" cap="none" spc="0" normalizeH="0" baseline="0" noProof="0" dirty="0">
              <a:ln>
                <a:noFill/>
              </a:ln>
              <a:solidFill>
                <a:prstClr val="black"/>
              </a:solidFill>
              <a:effectLst/>
              <a:uLnTx/>
              <a:uFillTx/>
              <a:latin typeface="微软雅黑"/>
              <a:ea typeface="微软雅黑"/>
              <a:cs typeface="+mn-cs"/>
            </a:endParaRPr>
          </a:p>
        </p:txBody>
      </p:sp>
    </p:spTree>
    <p:extLst>
      <p:ext uri="{BB962C8B-B14F-4D97-AF65-F5344CB8AC3E}">
        <p14:creationId xmlns:p14="http://schemas.microsoft.com/office/powerpoint/2010/main" val="2519387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custDataLst>
              <p:tags r:id="rId1"/>
            </p:custDataLst>
          </p:nvPr>
        </p:nvSpPr>
        <p:spPr>
          <a:xfrm>
            <a:off x="666751" y="409576"/>
            <a:ext cx="10858498" cy="64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参考文献 </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References</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
        <p:nvSpPr>
          <p:cNvPr id="6" name="文本框 5">
            <a:extLst>
              <a:ext uri="{FF2B5EF4-FFF2-40B4-BE49-F238E27FC236}">
                <a16:creationId xmlns:a16="http://schemas.microsoft.com/office/drawing/2014/main" id="{34C61F3E-7060-E877-F8A1-0AA29B76D9F1}"/>
              </a:ext>
            </a:extLst>
          </p:cNvPr>
          <p:cNvSpPr txBox="1"/>
          <p:nvPr/>
        </p:nvSpPr>
        <p:spPr>
          <a:xfrm>
            <a:off x="666751" y="1081026"/>
            <a:ext cx="10858497" cy="5671617"/>
          </a:xfrm>
          <a:prstGeom prst="rect">
            <a:avLst/>
          </a:prstGeom>
          <a:noFill/>
        </p:spPr>
        <p:txBody>
          <a:bodyPr wrap="square">
            <a:spAutoFit/>
          </a:bodyPr>
          <a:lstStyle/>
          <a:p>
            <a:pPr lvl="0" fontAlgn="base">
              <a:lnSpc>
                <a:spcPts val="1900"/>
              </a:lnSpc>
              <a:buSzPts val="1050"/>
            </a:pPr>
            <a:r>
              <a:rPr lang="en-US" altLang="zh-CN" sz="1200" kern="100" dirty="0">
                <a:effectLst/>
                <a:latin typeface="Times New Roman" panose="02020603050405020304" pitchFamily="18" charset="0"/>
                <a:ea typeface="黑体" panose="02010609060101010101" pitchFamily="49" charset="-122"/>
                <a:cs typeface="Times New Roman" panose="02020603050405020304" pitchFamily="18" charset="0"/>
              </a:rPr>
              <a:t>[1] SOLOMON J, HERZOG J, DE MEURON P. The Skins of Architecture: Rethinking the Study of Architectural Enclosure [M]. New Haven: Yale University Press, 2012.</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[2] ISO/IEC/IEEE. Systems and software engineering—Vocabulary: ISO/IEC/IEEE 24765:2017[S]. Geneva: ISO, 2017 [2025-04-18]. </a:t>
            </a:r>
            <a:r>
              <a:rPr lang="en-US" altLang="zh-CN" sz="1200" strike="noStrike" kern="100" dirty="0">
                <a:effectLst/>
                <a:latin typeface="Times New Roman" panose="02020603050405020304" pitchFamily="18" charset="0"/>
                <a:ea typeface="宋体" panose="02010600030101010101" pitchFamily="2" charset="-122"/>
                <a:cs typeface="Times New Roman" panose="02020603050405020304" pitchFamily="18" charset="0"/>
              </a:rPr>
              <a:t>https://</a:t>
            </a:r>
            <a:r>
              <a:rPr lang="en-US" altLang="zh-CN" sz="1200" strike="noStrike" kern="100" dirty="0" err="1">
                <a:effectLst/>
                <a:latin typeface="Times New Roman" panose="02020603050405020304" pitchFamily="18" charset="0"/>
                <a:ea typeface="宋体" panose="02010600030101010101" pitchFamily="2" charset="-122"/>
                <a:cs typeface="Times New Roman" panose="02020603050405020304" pitchFamily="18" charset="0"/>
              </a:rPr>
              <a:t>standards.ieee.org</a:t>
            </a:r>
            <a:r>
              <a:rPr lang="en-US" altLang="zh-CN" sz="1200" strike="noStrike"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strike="noStrike" kern="100" dirty="0" err="1">
                <a:effectLst/>
                <a:latin typeface="Times New Roman" panose="02020603050405020304" pitchFamily="18" charset="0"/>
                <a:ea typeface="宋体" panose="02010600030101010101" pitchFamily="2" charset="-122"/>
                <a:cs typeface="Times New Roman" panose="02020603050405020304" pitchFamily="18" charset="0"/>
              </a:rPr>
              <a:t>findstds</a:t>
            </a:r>
            <a:r>
              <a:rPr lang="en-US" altLang="zh-CN" sz="1200" strike="noStrike" kern="100" dirty="0">
                <a:effectLst/>
                <a:latin typeface="Times New Roman" panose="02020603050405020304" pitchFamily="18" charset="0"/>
                <a:ea typeface="宋体" panose="02010600030101010101" pitchFamily="2" charset="-122"/>
                <a:cs typeface="Times New Roman" panose="02020603050405020304" pitchFamily="18" charset="0"/>
              </a:rPr>
              <a:t>/standard/24765-2017.html.</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[3] H. Mei et al., "Don’t Hit Me! Glass Detection in Real-World Scenes," 2020 IEEE/CVF Conference on Computer Vision and Pattern Recognition (CVPR), Seattle, WA, USA, 2020, pp. 3684-3693,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doi</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10.1109/CVPR42600.2020.00374.</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[4] Henk Freimuth, Markus König, Planning and executing construction inspections with unmanned aerial vehicles, Automation in Construction, Volume 96, 2018, Pages 540-553, ISSN 0926-5805, https://</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doi.org</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/10.1016/j.autcon.2018.10.016.</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[5]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Qianxi</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Li, Xiong Peng, Xingu Zhong, Xinyi Xiao, Hui Wang, Chao Zhao, Kun Zhou, Quantitative identification of debonding defects in building façades based on UAV-thermography using a two-stage network integrating dual attention mechanism, Infrared Physics &amp; Technology, Volume 138, 2024, 105241, ISSN 1350-4495, https://</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doi.org</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/10.1016/j.infrared.2024.105241.</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[6] P. Mathur, C. Sharma and S.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Azeemuddin</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"Autonomous Inspection of High-Rise Buildings for Façade Detection and 3D Modeling Using UAVs," in IEEE Access, vol. 12, pp. 18251-18258, 2024,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doi</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10.1109/ACCESS.2024.3360209.</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[7] Cheng Zhang, Feng Wang, Yang Zou, Johannes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Dimyadi</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Brian H.W. Guo, Lei Hou, Automated UAV image-to-BIM registration for building façade inspection using improved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generalised</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Hough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transform,Automation</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in Construction, Volume 153, 2023, 104957, ISSN 0926-5805, </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https://</a:t>
            </a:r>
            <a:r>
              <a:rPr lang="en-US" altLang="zh-CN" sz="1200" kern="100" dirty="0" err="1">
                <a:latin typeface="Times New Roman" panose="02020603050405020304" pitchFamily="18" charset="0"/>
                <a:ea typeface="宋体" panose="02010600030101010101" pitchFamily="2" charset="-122"/>
                <a:cs typeface="Times New Roman" panose="02020603050405020304" pitchFamily="18" charset="0"/>
              </a:rPr>
              <a:t>doi.org</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/10.1016/j.autcon.2023.104957</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[8] Ye, Xiao Wei ,  T. Jin , and  P. Y. Chen . "Structural crack detection using deep learning–based fully convolutional networks." Advances in Structural Engineering (2019).</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[9] Yi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Zhike</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et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al."Scene</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-Aware Deep Networks for Semantic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Segmantation</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of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Images."IEEE</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ACCESS 7.(2019):69184-69193.</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[10] Szegedy, Christian , et al. "Going Deeper with Convolutions." IEEE Computer Society (2014).</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[11]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Jihong</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Zuo, et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al."Research</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on Image Preprocessing Algorithm for Rail Surface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Recognition."Open</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Journal of Applied Sciences 14.10(2024):2801-2808.</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[12]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Shifei</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Ding , et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al."A</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novel image denoising algorithm combining attention mechanism and residual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UNet</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network."Knowledge</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and Information Systems 66.1(2024):581-611.</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[13] Yao S. Language Agents: From Next-Token Prediction to Digital Automation[D]. Princeton University, 2024.</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lvl="0">
              <a:lnSpc>
                <a:spcPts val="1900"/>
              </a:lnSpc>
              <a:buSzPts val="1050"/>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[14] Anwar G A, Akber M Z. Multi-agent deep reinforcement learning for resilience optimization of building structures considering utility interactions for functionality[J]. Computers &amp; Structures, 2025, 310: 107703.</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DD44860F-8869-59C3-039B-5F1767B48E42}"/>
              </a:ext>
            </a:extLst>
          </p:cNvPr>
          <p:cNvSpPr txBox="1">
            <a:spLocks/>
          </p:cNvSpPr>
          <p:nvPr/>
        </p:nvSpPr>
        <p:spPr>
          <a:xfrm>
            <a:off x="3219289" y="5844696"/>
            <a:ext cx="2876711" cy="72460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marL="0" marR="0" lvl="0" indent="0" algn="l" defTabSz="914400" rtl="0" eaLnBrk="1" fontAlgn="auto" latinLnBrk="0" hangingPunct="1">
              <a:lnSpc>
                <a:spcPct val="150000"/>
              </a:lnSpc>
              <a:spcBef>
                <a:spcPct val="0"/>
              </a:spcBef>
              <a:spcAft>
                <a:spcPts val="0"/>
              </a:spcAft>
              <a:buClrTx/>
              <a:buSzTx/>
              <a:buFontTx/>
              <a:buNone/>
              <a:tabLst/>
              <a:defRPr/>
            </a:pPr>
            <a:r>
              <a:rPr lang="zh-CN" altLang="en-US" sz="1600" dirty="0">
                <a:solidFill>
                  <a:prstClr val="black"/>
                </a:solidFill>
                <a:latin typeface="微软雅黑"/>
                <a:ea typeface="微软雅黑" panose="020B0503020204020204" pitchFamily="34" charset="-122"/>
              </a:rPr>
              <a:t>答辩人</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：林继申</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指导教师：黄杰</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p:txBody>
      </p:sp>
      <p:sp>
        <p:nvSpPr>
          <p:cNvPr id="9" name="标题 1">
            <a:extLst>
              <a:ext uri="{FF2B5EF4-FFF2-40B4-BE49-F238E27FC236}">
                <a16:creationId xmlns:a16="http://schemas.microsoft.com/office/drawing/2014/main" id="{964C7AAB-5F8B-F356-A714-5ACDCEE7330E}"/>
              </a:ext>
            </a:extLst>
          </p:cNvPr>
          <p:cNvSpPr txBox="1">
            <a:spLocks/>
          </p:cNvSpPr>
          <p:nvPr/>
        </p:nvSpPr>
        <p:spPr>
          <a:xfrm>
            <a:off x="1512892" y="2171705"/>
            <a:ext cx="6651911" cy="9711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marL="0" marR="0" lvl="0" indent="0" algn="ctr" defTabSz="914400" rtl="0" eaLnBrk="1" fontAlgn="auto" latinLnBrk="0" hangingPunct="1">
              <a:lnSpc>
                <a:spcPct val="150000"/>
              </a:lnSpc>
              <a:spcBef>
                <a:spcPct val="0"/>
              </a:spcBef>
              <a:spcAft>
                <a:spcPts val="0"/>
              </a:spcAft>
              <a:buClrTx/>
              <a:buSzTx/>
              <a:buFontTx/>
              <a:buNone/>
              <a:tabLst/>
              <a:defRPr/>
            </a:pPr>
            <a:r>
              <a:rPr kumimoji="0" lang="zh-CN" altLang="en-US" sz="48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感谢垂听，恳请指正！</a:t>
            </a:r>
            <a:endParaRPr kumimoji="0" lang="en-US" altLang="zh-CN" sz="48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p:txBody>
      </p:sp>
      <p:sp>
        <p:nvSpPr>
          <p:cNvPr id="2" name="标题 1">
            <a:extLst>
              <a:ext uri="{FF2B5EF4-FFF2-40B4-BE49-F238E27FC236}">
                <a16:creationId xmlns:a16="http://schemas.microsoft.com/office/drawing/2014/main" id="{3537D603-0927-6EBA-3D3D-197C542BAE6D}"/>
              </a:ext>
            </a:extLst>
          </p:cNvPr>
          <p:cNvSpPr txBox="1">
            <a:spLocks/>
          </p:cNvSpPr>
          <p:nvPr/>
        </p:nvSpPr>
        <p:spPr>
          <a:xfrm>
            <a:off x="8452885" y="5825407"/>
            <a:ext cx="3110466" cy="76318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marL="0" marR="0" lvl="0" indent="0" algn="ctr" defTabSz="914400" rtl="0" eaLnBrk="1" fontAlgn="auto" latinLnBrk="0" hangingPunct="1">
              <a:lnSpc>
                <a:spcPct val="150000"/>
              </a:lnSpc>
              <a:spcBef>
                <a:spcPct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同济大学</a:t>
            </a:r>
            <a:r>
              <a:rPr lang="zh-CN" altLang="en-US" sz="1600" dirty="0">
                <a:solidFill>
                  <a:prstClr val="black"/>
                </a:solidFill>
                <a:latin typeface="微软雅黑"/>
                <a:ea typeface="微软雅黑" panose="020B0503020204020204" pitchFamily="34" charset="-122"/>
              </a:rPr>
              <a:t>计算机科学与技术学院</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a:p>
            <a:pPr marL="0" marR="0" lvl="0" indent="0" algn="ctr" defTabSz="914400" rtl="0" eaLnBrk="1" fontAlgn="auto" latinLnBrk="0" hangingPunct="1">
              <a:lnSpc>
                <a:spcPct val="150000"/>
              </a:lnSpc>
              <a:spcBef>
                <a:spcPct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2025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年</a:t>
            </a: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 1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月 </a:t>
            </a:r>
            <a:r>
              <a:rPr lang="en-US" altLang="zh-CN" sz="1600" dirty="0">
                <a:solidFill>
                  <a:prstClr val="black"/>
                </a:solidFill>
                <a:latin typeface="微软雅黑"/>
                <a:ea typeface="微软雅黑" panose="020B0503020204020204" pitchFamily="34" charset="-122"/>
              </a:rPr>
              <a:t>4</a:t>
            </a:r>
            <a:r>
              <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 </a:t>
            </a:r>
            <a:r>
              <a:rPr kumimoji="0" lang="zh-CN" altLang="en-US"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rPr>
              <a:t>日</a:t>
            </a:r>
            <a:endParaRPr kumimoji="0" lang="en-US" altLang="zh-CN" sz="1600" b="1" i="0" u="none" strike="noStrike" kern="1200" cap="none" spc="0" normalizeH="0" baseline="0" noProof="0" dirty="0">
              <a:ln>
                <a:noFill/>
              </a:ln>
              <a:solidFill>
                <a:prstClr val="black"/>
              </a:solidFill>
              <a:effectLst/>
              <a:uLnTx/>
              <a:uFillTx/>
              <a:latin typeface="微软雅黑"/>
              <a:ea typeface="微软雅黑" panose="020B0503020204020204" pitchFamily="34" charset="-122"/>
              <a:cs typeface="+mj-cs"/>
            </a:endParaRPr>
          </a:p>
        </p:txBody>
      </p:sp>
      <p:sp>
        <p:nvSpPr>
          <p:cNvPr id="6" name="标题 1">
            <a:extLst>
              <a:ext uri="{FF2B5EF4-FFF2-40B4-BE49-F238E27FC236}">
                <a16:creationId xmlns:a16="http://schemas.microsoft.com/office/drawing/2014/main" id="{B62B3FA6-45DE-51E8-DC3D-7FB3F34F6122}"/>
              </a:ext>
            </a:extLst>
          </p:cNvPr>
          <p:cNvSpPr txBox="1">
            <a:spLocks/>
          </p:cNvSpPr>
          <p:nvPr/>
        </p:nvSpPr>
        <p:spPr>
          <a:xfrm>
            <a:off x="1138827" y="3507907"/>
            <a:ext cx="10424524" cy="120463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a:lstStyle>
          <a:p>
            <a:pPr>
              <a:lnSpc>
                <a:spcPct val="100000"/>
              </a:lnSpc>
            </a:pPr>
            <a:r>
              <a:rPr lang="zh-CN" altLang="zh-CN" sz="2800" dirty="0"/>
              <a:t>基于</a:t>
            </a:r>
            <a:r>
              <a:rPr lang="en-US" altLang="zh-CN" sz="2800" dirty="0"/>
              <a:t> AI Agent </a:t>
            </a:r>
            <a:r>
              <a:rPr lang="zh-CN" altLang="zh-CN" sz="2800" dirty="0"/>
              <a:t>的建筑幕墙韧性评估软件系统设计与实现</a:t>
            </a:r>
            <a:br>
              <a:rPr lang="en-US" altLang="zh-CN" sz="1600" dirty="0"/>
            </a:br>
            <a:r>
              <a:rPr lang="en-US" altLang="zh-CN" sz="1400" dirty="0">
                <a:latin typeface="+mj-lt"/>
                <a:ea typeface="微软雅黑" panose="020B0503020204020204" pitchFamily="34" charset="-122"/>
              </a:rPr>
              <a:t>Design and Implementation of an AI Agent-Based Software System</a:t>
            </a:r>
            <a:br>
              <a:rPr lang="en-US" altLang="zh-CN" sz="1400" dirty="0">
                <a:latin typeface="+mj-lt"/>
                <a:ea typeface="微软雅黑" panose="020B0503020204020204" pitchFamily="34" charset="-122"/>
              </a:rPr>
            </a:br>
            <a:r>
              <a:rPr lang="en-US" altLang="zh-CN" sz="1400" dirty="0">
                <a:latin typeface="+mj-lt"/>
                <a:ea typeface="微软雅黑" panose="020B0503020204020204" pitchFamily="34" charset="-122"/>
              </a:rPr>
              <a:t>for Building Curtain Wall Resilience Assessment</a:t>
            </a:r>
            <a:endParaRPr lang="en-US" altLang="zh-CN" sz="1600" dirty="0">
              <a:latin typeface="+mj-lt"/>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on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2642</Words>
  <Application>Microsoft Macintosh PowerPoint</Application>
  <PresentationFormat>宽屏</PresentationFormat>
  <Paragraphs>142</Paragraphs>
  <Slides>14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14</vt:i4>
      </vt:variant>
    </vt:vector>
  </HeadingPairs>
  <TitlesOfParts>
    <vt:vector size="20" baseType="lpstr">
      <vt:lpstr>等线</vt:lpstr>
      <vt:lpstr>Arial</vt:lpstr>
      <vt:lpstr>Times New Roman</vt:lpstr>
      <vt:lpstr>微软雅黑</vt:lpstr>
      <vt:lpstr>OPPOSans L</vt:lpstr>
      <vt:lpstr>1_Office 主题​​</vt:lpstr>
      <vt:lpstr>基于 AI Agent 的建筑幕墙韧性评估软件系统设计与实现 Design and Implementation of an AI Agent-Based Software System for Building Curtain Wall Resilience Assessment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三维图像传感器信号增强网络的轻量化方法 Lightweight Method for 3D Image Sensor Signal Enhancement Network</dc:title>
  <dc:creator>Minmus Lin</dc:creator>
  <cp:lastModifiedBy>HC1241</cp:lastModifiedBy>
  <cp:revision>10</cp:revision>
  <dcterms:created xsi:type="dcterms:W3CDTF">2024-04-26T08:38:38Z</dcterms:created>
  <dcterms:modified xsi:type="dcterms:W3CDTF">2026-01-04T05:53:47Z</dcterms:modified>
</cp:coreProperties>
</file>